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2f2de7918849e2" /><Relationship Type="http://schemas.openxmlformats.org/officeDocument/2006/relationships/extended-properties" Target="/docProps/app.xml" Id="R36e8084082b74ec2" /><Relationship Type="http://schemas.openxmlformats.org/officeDocument/2006/relationships/officeDocument" Target="/ppt/presentation.xml" Id="Rb1731ab3a66b41ea" /></Relationships>
</file>

<file path=ppt/presentation.xml><?xml version="1.0" encoding="utf-8"?>
<p:presentation xmlns:p="http://schemas.openxmlformats.org/presentationml/2006/main">
  <p:sldMasterIdLst>
    <p:sldMasterId xmlns:r="http://schemas.openxmlformats.org/officeDocument/2006/relationships" id="2147483648" r:id="R9af59d39bf7b45a0"/>
  </p:sldMasterIdLst>
  <p:notesMasterIdLst>
    <p:notesMasterId xmlns:r="http://schemas.openxmlformats.org/officeDocument/2006/relationships" r:id="R6bb7c135550b40dc"/>
  </p:notesMasterIdLst>
  <p:sldIdLst>
    <p:sldId xmlns:r="http://schemas.openxmlformats.org/officeDocument/2006/relationships" id="256" r:id="R033c3a20cf4e4862"/>
    <p:sldId xmlns:r="http://schemas.openxmlformats.org/officeDocument/2006/relationships" id="257" r:id="R5f9761c0697944a9"/>
    <p:sldId xmlns:r="http://schemas.openxmlformats.org/officeDocument/2006/relationships" id="258" r:id="Ra2a6b2ac0c544543"/>
    <p:sldId xmlns:r="http://schemas.openxmlformats.org/officeDocument/2006/relationships" id="259" r:id="R6bab227d8c864cf0"/>
    <p:sldId xmlns:r="http://schemas.openxmlformats.org/officeDocument/2006/relationships" id="260" r:id="R3342a9c30c8449ef"/>
    <p:sldId xmlns:r="http://schemas.openxmlformats.org/officeDocument/2006/relationships" id="261" r:id="Rffe1886e022949f0"/>
    <p:sldId xmlns:r="http://schemas.openxmlformats.org/officeDocument/2006/relationships" id="262" r:id="Ref43c343d83c4a80"/>
    <p:sldId xmlns:r="http://schemas.openxmlformats.org/officeDocument/2006/relationships" id="263" r:id="Rbd323191dde04d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337620307f4b6d" /><Relationship Type="http://schemas.openxmlformats.org/officeDocument/2006/relationships/slideMaster" Target="/ppt/slideMasters/slideMaster1.xml" Id="R9af59d39bf7b45a0" /><Relationship Type="http://schemas.openxmlformats.org/officeDocument/2006/relationships/notesMaster" Target="/ppt/notesMasters/notesMaster1.xml" Id="R6bb7c135550b40dc" /><Relationship Type="http://schemas.openxmlformats.org/officeDocument/2006/relationships/presProps" Target="/ppt/presProps.xml" Id="R91e41b12823245aa" /><Relationship Type="http://schemas.openxmlformats.org/officeDocument/2006/relationships/tableStyles" Target="/ppt/tableStyles.xml" Id="R10ca3e2a79ac4d20" /><Relationship Type="http://schemas.openxmlformats.org/officeDocument/2006/relationships/slide" Target="/ppt/slides/slide1.xml" Id="R033c3a20cf4e4862" /><Relationship Type="http://schemas.openxmlformats.org/officeDocument/2006/relationships/slide" Target="/ppt/slides/slide2.xml" Id="R5f9761c0697944a9" /><Relationship Type="http://schemas.openxmlformats.org/officeDocument/2006/relationships/slide" Target="/ppt/slides/slide3.xml" Id="Ra2a6b2ac0c544543" /><Relationship Type="http://schemas.openxmlformats.org/officeDocument/2006/relationships/slide" Target="/ppt/slides/slide4.xml" Id="R6bab227d8c864cf0" /><Relationship Type="http://schemas.openxmlformats.org/officeDocument/2006/relationships/slide" Target="/ppt/slides/slide5.xml" Id="R3342a9c30c8449ef" /><Relationship Type="http://schemas.openxmlformats.org/officeDocument/2006/relationships/slide" Target="/ppt/slides/slide6.xml" Id="Rffe1886e022949f0" /><Relationship Type="http://schemas.openxmlformats.org/officeDocument/2006/relationships/slide" Target="/ppt/slides/slide7.xml" Id="Ref43c343d83c4a80" /><Relationship Type="http://schemas.openxmlformats.org/officeDocument/2006/relationships/slide" Target="/ppt/slides/slide8.xml" Id="Rbd323191dde04d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6c12912b6846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91ace8b1724d64" /><Relationship Type="http://schemas.openxmlformats.org/officeDocument/2006/relationships/notesMaster" Target="/ppt/notesMasters/notesMaster1.xml" Id="R5e65677c5bd241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76dfdd1e9349da" /><Relationship Type="http://schemas.openxmlformats.org/officeDocument/2006/relationships/notesMaster" Target="/ppt/notesMasters/notesMaster1.xml" Id="Rf85597518c3142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6dfc9f2e274779" /><Relationship Type="http://schemas.openxmlformats.org/officeDocument/2006/relationships/notesMaster" Target="/ppt/notesMasters/notesMaster1.xml" Id="R8a979895b7b345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b06bfa04d64047" /><Relationship Type="http://schemas.openxmlformats.org/officeDocument/2006/relationships/notesMaster" Target="/ppt/notesMasters/notesMaster1.xml" Id="R9e342145539e4d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657cba8d38479e" /><Relationship Type="http://schemas.openxmlformats.org/officeDocument/2006/relationships/notesMaster" Target="/ppt/notesMasters/notesMaster1.xml" Id="Rad6862a50a594d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41a7dc8e71746cc" /><Relationship Type="http://schemas.openxmlformats.org/officeDocument/2006/relationships/notesMaster" Target="/ppt/notesMasters/notesMaster1.xml" Id="R5ea2b07f1c0a4f7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2a689a65044559" /><Relationship Type="http://schemas.openxmlformats.org/officeDocument/2006/relationships/notesMaster" Target="/ppt/notesMasters/notesMaster1.xml" Id="R547c9ac86a864e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97cd53ff554343" /><Relationship Type="http://schemas.openxmlformats.org/officeDocument/2006/relationships/notesMaster" Target="/ppt/notesMasters/notesMaster1.xml" Id="R11f54012d3164a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the engineers. Ask what they know about the product before explaining it. This is a local points game. Infrastructure exists separately, but we have not deployed or operationally verified it. Source: README.md and docs/ONBOARDING.md.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a real round now. Keep talking while it runs. Ask: What should the player see if the price is unchanged at the deadline? We removed the global scoreboard because anonymous identities make competition easy to manipulate. Personal history helps the player understand outcomes. Source: web/src/main.tsx, web/src/round-history.tsx, server/src/store.ts.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collector and settlement worker are code in one Node service. PostgreSQL is shared. Browser polls for display every two seconds. Collector verifies advancing heartbeat intervals through REST even while connected. Worker runs every second. Dedicated database sessions hold collector/settlement advisory locks. Sources: server/src/app.ts, workers.ts, recovery.ts, store.ts, web/src/main.tsx. Ask: Who owns score updates when a browser closes?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prices and relative timestamps below explain the rule. They are not actual exchange evidence. Acceptance captures server time and latest verified persisted trade. Canonical REST timestamps retain microseconds, prices use exact decimals, trade ID breaks timestamp ties. Source: server/src/store.ts settlement SQL, domain.ts, migrations/001_initial.sql. Ask: Which trade settles the round, and why would a later-arriving earlier trade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a disconnect spanning the deadline. On reconnect, buffer WebSocket events while paging REST back to durable checkpoint. Deduplicate and reconcile, then atomically persist verified interval/checkpoint. If history is unavailable, affected rounds stay pending, new guesses are blocked by stale/recovering state. Already verified historical rounds can still settle. Bounded recovery: 200 pages, 100,000 buffered events. Sources: server/src/recovery.ts, workers.ts, store.ts. Ask engineers to predict behavior before revealing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one focused integration test, rather than reading every file. One pending round: partial unique index and player-row lock. Exactly one score delta: result and score in same transaction, pending status checked under lock. Complete interval: durable verified coverage gate, REST reconciliation. Unit tests exercise rule precision and paging, PostgreSQL tests concurrency/rollback, browser fixtures UI states. A separate real round requested a backend restart and validated the stored settlement against the ledger. Sources: server/test/store.integration.test.ts, domain.test.ts, recovery.test.ts, web/test/game.spec.ts, test/live-verification.json.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honest limitations explicit. Anonymous cookie identities are easy to create in multiples and have no account recovery. Conservative REST verification adds request cost and latency. No trade retention policy currently deletes ledger rows. Before public hosting: configure trusted proxy policy, startup security validation, shared abuse controls, and least-privilege runtime DB credentials. AWS infrastructure is prepared only, not deployed or verified. Source: README.md, docs/ONBOARDING.md, server/src/app.ts, recovery.ts. Ask: Which risk would you address first and what measurement would support that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 A starts at web/src/round-history.tsx. It currently reloads page one when a new result arrives, discarding older loaded pages. Acceptance: no duplicates, newest first, preserve loaded older rounds, known rows survive retry, keyboard/mobile flows work. Engineer B starts at server/src/app.ts: replace blanket trustProxy with configured trust and fail clearly on invalid production security settings. Acceptance: forged forwarding headers outside trusted chain do not change client identity, local dev works, request-level tests demonstrate policy. Agree on API changes together. Ask each engineer to repeat their plan and how they will know it is done. Source: docs/ONBOARDING.md and corresponding implementation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7da088413bd4f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2247e82f4c4eba" /><Relationship Type="http://schemas.openxmlformats.org/officeDocument/2006/relationships/slideLayout" Target="/ppt/slideLayouts/slideLayout1.xml" Id="R5d4300815a9543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4300815a9543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5958ad96e44756" /><Relationship Type="http://schemas.openxmlformats.org/officeDocument/2006/relationships/notesSlide" Target="/ppt/notesSlides/notesSlide1.xml" Id="R65fc1a38a7a543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206b3b148f74d04" /><Relationship Type="http://schemas.openxmlformats.org/officeDocument/2006/relationships/notesSlide" Target="/ppt/notesSlides/notesSlide2.xml" Id="Rcc07fb4efee647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61dcf3bd24742c8" /><Relationship Type="http://schemas.openxmlformats.org/officeDocument/2006/relationships/notesSlide" Target="/ppt/notesSlides/notesSlide3.xml" Id="Rd0f336c0109340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d6bf2be1b24d35" /><Relationship Type="http://schemas.openxmlformats.org/officeDocument/2006/relationships/notesSlide" Target="/ppt/notesSlides/notesSlide4.xml" Id="Ra5c42e51b1a145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5a066c39a244634" /><Relationship Type="http://schemas.openxmlformats.org/officeDocument/2006/relationships/notesSlide" Target="/ppt/notesSlides/notesSlide5.xml" Id="Ra5c4ac7d85ca4d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e75e2b213a42c0" /><Relationship Type="http://schemas.openxmlformats.org/officeDocument/2006/relationships/notesSlide" Target="/ppt/notesSlides/notesSlide6.xml" Id="R9358864e5bbb4d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bc1d40184a420c" /><Relationship Type="http://schemas.openxmlformats.org/officeDocument/2006/relationships/notesSlide" Target="/ppt/notesSlides/notesSlide7.xml" Id="Rf7ad5be703d944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a70b3dcd5f470f" /><Relationship Type="http://schemas.openxmlformats.org/officeDocument/2006/relationships/notesSlide" Target="/ppt/notesSlides/notesSlide8.xml" Id="R40cff0a1b3cf4641" /></Relationships>
</file>

<file path=ppt/slides/slide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8A64A8-BBB4-4A74-AF40-37C413AF45FC}"/>
              </a:ext>
            </a:extLst>
          </p:cNvPr>
          <p:cNvSpPr>
            <a:spLocks xmlns:a="http://schemas.openxmlformats.org/drawingml/2006/main" noGrp="1"/>
          </p:cNvSpPr>
          <p:nvPr/>
        </p:nvSpPr>
        <p:spPr>
          <a:xfrm xmlns:a="http://schemas.openxmlformats.org/drawingml/2006/main">
            <a:off x="666750" y="428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4A37"/>
                </a:solidFill>
                <a:latin typeface="Helvetica Neue"/>
                <a:ea typeface="Helvetica Neue"/>
                <a:cs typeface="Helvetica Neue"/>
              </a:defRPr>
            </a:pPr>
            <a:r>
              <a:rPr sz="3450" b="1">
                <a:solidFill>
                  <a:srgbClr val="184A37"/>
                </a:solidFill>
                <a:latin typeface="Helvetica Neue"/>
                <a:ea typeface="Helvetica Neue"/>
                <a:cs typeface="Helvetica Neue"/>
              </a:rPr>
              <a:t>Minute / BTC</a:t>
            </a:r>
          </a:p>
        </p:txBody>
      </p:sp>
      <p:sp>
        <p:nvSpPr>
          <p:cNvPr id="2" name="">
            <a:extLst xmlns:a="http://schemas.openxmlformats.org/drawingml/2006/main">
              <a:ext uri="{FF2B5EF4-FFF2-40B4-BE49-F238E27FC236}">
                <a16:creationId xmlns:a16="http://schemas.microsoft.com/office/drawing/2014/main" id="{782B8BE9-B47C-4808-8DD0-698BD6AFEA68}"/>
              </a:ext>
            </a:extLst>
          </p:cNvPr>
          <p:cNvSpPr>
            <a:spLocks xmlns:a="http://schemas.openxmlformats.org/drawingml/2006/main" noGrp="1"/>
          </p:cNvSpPr>
          <p:nvPr/>
        </p:nvSpPr>
        <p:spPr>
          <a:xfrm xmlns:a="http://schemas.openxmlformats.org/drawingml/2006/main">
            <a:off x="11191875"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B655E"/>
                </a:solidFill>
                <a:latin typeface="Helvetica Neue"/>
                <a:ea typeface="Helvetica Neue"/>
                <a:cs typeface="Helvetica Neue"/>
              </a:defRPr>
            </a:pPr>
            <a:r>
              <a:rPr sz="1500" b="0">
                <a:solidFill>
                  <a:srgbClr val="5B655E"/>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7B6E2A3-4318-491F-98B3-F1CD79D3016F}"/>
              </a:ext>
            </a:extLst>
          </p:cNvPr>
          <p:cNvSpPr>
            <a:spLocks xmlns:a="http://schemas.openxmlformats.org/drawingml/2006/main" noGrp="1"/>
          </p:cNvSpPr>
          <p:nvPr/>
        </p:nvSpPr>
        <p:spPr>
          <a:xfrm xmlns:a="http://schemas.openxmlformats.org/drawingml/2006/main">
            <a:off x="666750" y="2000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84A37"/>
                </a:solidFill>
                <a:latin typeface="Helvetica Neue"/>
                <a:ea typeface="Helvetica Neue"/>
                <a:cs typeface="Helvetica Neue"/>
              </a:defRPr>
            </a:pPr>
            <a:r>
              <a:rPr sz="4650" b="1">
                <a:solidFill>
                  <a:srgbClr val="184A37"/>
                </a:solidFill>
                <a:latin typeface="Helvetica Neue"/>
                <a:ea typeface="Helvetica Neue"/>
                <a:cs typeface="Helvetica Neue"/>
              </a:rPr>
              <a:t>Engineer onboarding</a:t>
            </a:r>
          </a:p>
        </p:txBody>
      </p:sp>
      <p:sp>
        <p:nvSpPr>
          <p:cNvPr id="4" name="">
            <a:extLst xmlns:a="http://schemas.openxmlformats.org/drawingml/2006/main">
              <a:ext uri="{FF2B5EF4-FFF2-40B4-BE49-F238E27FC236}">
                <a16:creationId xmlns:a16="http://schemas.microsoft.com/office/drawing/2014/main" id="{5BD4746F-212E-465F-A8BA-C1B208AD9E2A}"/>
              </a:ext>
            </a:extLst>
          </p:cNvPr>
          <p:cNvSpPr>
            <a:spLocks xmlns:a="http://schemas.openxmlformats.org/drawingml/2006/main" noGrp="1"/>
          </p:cNvSpPr>
          <p:nvPr/>
        </p:nvSpPr>
        <p:spPr>
          <a:xfrm xmlns:a="http://schemas.openxmlformats.org/drawingml/2006/main">
            <a:off x="666750" y="3286125"/>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4A37"/>
                </a:solidFill>
                <a:latin typeface="Helvetica Neue"/>
                <a:ea typeface="Helvetica Neue"/>
                <a:cs typeface="Helvetica Neue"/>
              </a:defRPr>
            </a:pPr>
            <a:r>
              <a:rPr sz="2550" b="0">
                <a:solidFill>
                  <a:srgbClr val="184A37"/>
                </a:solidFill>
                <a:latin typeface="Helvetica Neue"/>
                <a:ea typeface="Helvetica Neue"/>
                <a:cs typeface="Helvetica Neue"/>
              </a:rPr>
              <a:t>A player predicts BTC-USD after one minute.</a:t>
            </a:r>
          </a:p>
          <a:p xmlns:a="http://schemas.openxmlformats.org/drawingml/2006/main">
            <a:pPr>
              <a:defRPr sz="2550" b="0">
                <a:solidFill>
                  <a:srgbClr val="184A37"/>
                </a:solidFill>
                <a:latin typeface="Helvetica Neue"/>
                <a:ea typeface="Helvetica Neue"/>
                <a:cs typeface="Helvetica Neue"/>
              </a:defRPr>
            </a:pPr>
            <a:r>
              <a:rPr sz="2550" b="0">
                <a:solidFill>
                  <a:srgbClr val="184A37"/>
                </a:solidFill>
                <a:latin typeface="Helvetica Neue"/>
                <a:ea typeface="Helvetica Neue"/>
                <a:cs typeface="Helvetica Neue"/>
              </a:rPr>
              <a:t>Our priority is a result they can trust and explain.</a:t>
            </a:r>
          </a:p>
        </p:txBody>
      </p:sp>
      <p:sp>
        <p:nvSpPr>
          <p:cNvPr id="5" name="">
            <a:extLst xmlns:a="http://schemas.openxmlformats.org/drawingml/2006/main">
              <a:ext uri="{FF2B5EF4-FFF2-40B4-BE49-F238E27FC236}">
                <a16:creationId xmlns:a16="http://schemas.microsoft.com/office/drawing/2014/main" id="{ED136EBD-6452-47EB-97D4-AAAB51387470}"/>
              </a:ext>
            </a:extLst>
          </p:cNvPr>
          <p:cNvSpPr>
            <a:spLocks xmlns:a="http://schemas.openxmlformats.org/drawingml/2006/main" noGrp="1"/>
          </p:cNvSpPr>
          <p:nvPr/>
        </p:nvSpPr>
        <p:spPr>
          <a:xfrm xmlns:a="http://schemas.openxmlformats.org/drawingml/2006/main">
            <a:off x="666750" y="557212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B655E"/>
                </a:solidFill>
                <a:latin typeface="Helvetica Neue"/>
                <a:ea typeface="Helvetica Neue"/>
                <a:cs typeface="Helvetica Neue"/>
              </a:defRPr>
            </a:pPr>
            <a:r>
              <a:rPr sz="1800" b="0">
                <a:solidFill>
                  <a:srgbClr val="5B655E"/>
                </a:solidFill>
                <a:latin typeface="Helvetica Neue"/>
                <a:ea typeface="Helvetica Neue"/>
                <a:cs typeface="Helvetica Neue"/>
              </a:rPr>
              <a:t>Local application walkthrough   20 minutes</a:t>
            </a:r>
          </a:p>
        </p:txBody>
      </p:sp>
    </p:spTree>
    <p:extLst>
      <p:ext uri="{BB962C8B-B14F-4D97-AF65-F5344CB8AC3E}">
        <p14:creationId xmlns:p14="http://schemas.microsoft.com/office/powerpoint/2010/main" val="1664996786"/>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07878CF-4BDB-481E-9B66-042C82E5C814}"/>
              </a:ext>
            </a:extLst>
          </p:cNvPr>
          <p:cNvSpPr>
            <a:spLocks xmlns:a="http://schemas.openxmlformats.org/drawingml/2006/main" noGrp="1"/>
          </p:cNvSpPr>
          <p:nvPr/>
        </p:nvSpPr>
        <p:spPr>
          <a:xfrm xmlns:a="http://schemas.openxmlformats.org/drawingml/2006/main">
            <a:off x="666750" y="428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4A37"/>
                </a:solidFill>
                <a:latin typeface="Helvetica Neue"/>
                <a:ea typeface="Helvetica Neue"/>
                <a:cs typeface="Helvetica Neue"/>
              </a:defRPr>
            </a:pPr>
            <a:r>
              <a:rPr sz="3450" b="1">
                <a:solidFill>
                  <a:srgbClr val="184A37"/>
                </a:solidFill>
                <a:latin typeface="Helvetica Neue"/>
                <a:ea typeface="Helvetica Neue"/>
                <a:cs typeface="Helvetica Neue"/>
              </a:rPr>
              <a:t>The player experience</a:t>
            </a:r>
          </a:p>
        </p:txBody>
      </p:sp>
      <p:sp>
        <p:nvSpPr>
          <p:cNvPr id="2" name="">
            <a:extLst xmlns:a="http://schemas.openxmlformats.org/drawingml/2006/main">
              <a:ext uri="{FF2B5EF4-FFF2-40B4-BE49-F238E27FC236}">
                <a16:creationId xmlns:a16="http://schemas.microsoft.com/office/drawing/2014/main" id="{439E91CC-8AE8-45D5-B6F6-17588EC16CB3}"/>
              </a:ext>
            </a:extLst>
          </p:cNvPr>
          <p:cNvSpPr>
            <a:spLocks xmlns:a="http://schemas.openxmlformats.org/drawingml/2006/main" noGrp="1"/>
          </p:cNvSpPr>
          <p:nvPr/>
        </p:nvSpPr>
        <p:spPr>
          <a:xfrm xmlns:a="http://schemas.openxmlformats.org/drawingml/2006/main">
            <a:off x="11191875"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B655E"/>
                </a:solidFill>
                <a:latin typeface="Helvetica Neue"/>
                <a:ea typeface="Helvetica Neue"/>
                <a:cs typeface="Helvetica Neue"/>
              </a:defRPr>
            </a:pPr>
            <a:r>
              <a:rPr sz="1500" b="0">
                <a:solidFill>
                  <a:srgbClr val="5B655E"/>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53177A77-1E36-4A32-A9B4-7E4FC812912A}"/>
              </a:ext>
            </a:extLst>
          </p:cNvPr>
          <p:cNvSpPr>
            <a:spLocks xmlns:a="http://schemas.openxmlformats.org/drawingml/2006/main" noGrp="1"/>
          </p:cNvSpPr>
          <p:nvPr/>
        </p:nvSpPr>
        <p:spPr>
          <a:xfrm xmlns:a="http://schemas.openxmlformats.org/drawingml/2006/main">
            <a:off x="666750" y="2000250"/>
            <a:ext cx="2333625"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Choose</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Up or Down</a:t>
            </a:r>
          </a:p>
        </p:txBody>
      </p:sp>
      <p:sp>
        <p:nvSpPr>
          <p:cNvPr id="4" name="">
            <a:extLst xmlns:a="http://schemas.openxmlformats.org/drawingml/2006/main">
              <a:ext uri="{FF2B5EF4-FFF2-40B4-BE49-F238E27FC236}">
                <a16:creationId xmlns:a16="http://schemas.microsoft.com/office/drawing/2014/main" id="{32EF5EE7-1F4C-4490-8B79-0D5A5B82E13B}"/>
              </a:ext>
            </a:extLst>
          </p:cNvPr>
          <p:cNvSpPr>
            <a:spLocks xmlns:a="http://schemas.openxmlformats.org/drawingml/2006/main" noGrp="1"/>
          </p:cNvSpPr>
          <p:nvPr/>
        </p:nvSpPr>
        <p:spPr>
          <a:xfrm xmlns:a="http://schemas.openxmlformats.org/drawingml/2006/main">
            <a:off x="3714750" y="2000250"/>
            <a:ext cx="2333625"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Wait at least</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60 seconds</a:t>
            </a:r>
          </a:p>
        </p:txBody>
      </p:sp>
      <p:sp>
        <p:nvSpPr>
          <p:cNvPr id="5" name="">
            <a:extLst xmlns:a="http://schemas.openxmlformats.org/drawingml/2006/main">
              <a:ext uri="{FF2B5EF4-FFF2-40B4-BE49-F238E27FC236}">
                <a16:creationId xmlns:a16="http://schemas.microsoft.com/office/drawing/2014/main" id="{6464D036-7062-4CFE-9592-319AB0DEFD1C}"/>
              </a:ext>
            </a:extLst>
          </p:cNvPr>
          <p:cNvSpPr>
            <a:spLocks xmlns:a="http://schemas.openxmlformats.org/drawingml/2006/main" noGrp="1"/>
          </p:cNvSpPr>
          <p:nvPr/>
        </p:nvSpPr>
        <p:spPr>
          <a:xfrm xmlns:a="http://schemas.openxmlformats.org/drawingml/2006/main">
            <a:off x="6762750" y="2000250"/>
            <a:ext cx="342900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See outcome</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and trade evidence</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000375" y="2524125"/>
            <a:ext cx="714375" cy="0"/>
          </a:xfrm>
          <a:prstGeom xmlns:a="http://schemas.openxmlformats.org/drawingml/2006/main" prst="straightConnector1">
            <a:avLst/>
          </a:prstGeom>
          <a:ln xmlns:a="http://schemas.openxmlformats.org/drawingml/2006/main" w="19050">
            <a:solidFill>
              <a:srgbClr val="184A37"/>
            </a:solidFill>
            <a:tailEnd type="arrow"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6048375" y="2524125"/>
            <a:ext cx="714375" cy="0"/>
          </a:xfrm>
          <a:prstGeom xmlns:a="http://schemas.openxmlformats.org/drawingml/2006/main" prst="straightConnector1">
            <a:avLst/>
          </a:prstGeom>
          <a:ln xmlns:a="http://schemas.openxmlformats.org/drawingml/2006/main" w="19050">
            <a:solidFill>
              <a:srgbClr val="184A37"/>
            </a:solidFill>
            <a:tailEnd type="arrow" w="med" len="med"/>
          </a:ln>
        </p:spPr>
      </p:cxnSp>
      <p:sp>
        <p:nvSpPr>
          <p:cNvPr id="8" name="">
            <a:extLst xmlns:a="http://schemas.openxmlformats.org/drawingml/2006/main">
              <a:ext uri="{FF2B5EF4-FFF2-40B4-BE49-F238E27FC236}">
                <a16:creationId xmlns:a16="http://schemas.microsoft.com/office/drawing/2014/main" id="{6CAD7A78-698D-413A-9D75-8598DA2796F3}"/>
              </a:ext>
            </a:extLst>
          </p:cNvPr>
          <p:cNvSpPr>
            <a:spLocks xmlns:a="http://schemas.openxmlformats.org/drawingml/2006/main" noGrp="1"/>
          </p:cNvSpPr>
          <p:nvPr/>
        </p:nvSpPr>
        <p:spPr>
          <a:xfrm xmlns:a="http://schemas.openxmlformats.org/drawingml/2006/main">
            <a:off x="666750" y="37147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4A37"/>
                </a:solidFill>
                <a:latin typeface="Helvetica Neue"/>
                <a:ea typeface="Helvetica Neue"/>
                <a:cs typeface="Helvetica Neue"/>
              </a:defRPr>
            </a:pPr>
            <a:r>
              <a:rPr sz="2400" b="1">
                <a:solidFill>
                  <a:srgbClr val="184A37"/>
                </a:solidFill>
                <a:latin typeface="Helvetica Neue"/>
                <a:ea typeface="Helvetica Neue"/>
                <a:cs typeface="Helvetica Neue"/>
              </a:rPr>
              <a:t>Always visible</a:t>
            </a:r>
          </a:p>
        </p:txBody>
      </p:sp>
      <p:sp>
        <p:nvSpPr>
          <p:cNvPr id="9" name="">
            <a:extLst xmlns:a="http://schemas.openxmlformats.org/drawingml/2006/main">
              <a:ext uri="{FF2B5EF4-FFF2-40B4-BE49-F238E27FC236}">
                <a16:creationId xmlns:a16="http://schemas.microsoft.com/office/drawing/2014/main" id="{0B508DF9-F072-442A-87F5-1D7CD814E215}"/>
              </a:ext>
            </a:extLst>
          </p:cNvPr>
          <p:cNvSpPr>
            <a:spLocks xmlns:a="http://schemas.openxmlformats.org/drawingml/2006/main" noGrp="1"/>
          </p:cNvSpPr>
          <p:nvPr/>
        </p:nvSpPr>
        <p:spPr>
          <a:xfrm xmlns:a="http://schemas.openxmlformats.org/drawingml/2006/main">
            <a:off x="666750" y="42862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4A37"/>
                </a:solidFill>
                <a:latin typeface="Helvetica Neue"/>
                <a:ea typeface="Helvetica Neue"/>
                <a:cs typeface="Helvetica Neue"/>
              </a:defRPr>
            </a:pPr>
            <a:r>
              <a:rPr sz="2250" b="0">
                <a:solidFill>
                  <a:srgbClr val="184A37"/>
                </a:solidFill>
                <a:latin typeface="Helvetica Neue"/>
                <a:ea typeface="Helvetica Neue"/>
                <a:cs typeface="Helvetica Neue"/>
              </a:rPr>
              <a:t>Score, verified price and feed freshness</a:t>
            </a:r>
          </a:p>
        </p:txBody>
      </p:sp>
      <p:sp>
        <p:nvSpPr>
          <p:cNvPr id="10" name="">
            <a:extLst xmlns:a="http://schemas.openxmlformats.org/drawingml/2006/main">
              <a:ext uri="{FF2B5EF4-FFF2-40B4-BE49-F238E27FC236}">
                <a16:creationId xmlns:a16="http://schemas.microsoft.com/office/drawing/2014/main" id="{4569C7BD-E1C4-486B-A79C-93A799201FC1}"/>
              </a:ext>
            </a:extLst>
          </p:cNvPr>
          <p:cNvSpPr>
            <a:spLocks xmlns:a="http://schemas.openxmlformats.org/drawingml/2006/main" noGrp="1"/>
          </p:cNvSpPr>
          <p:nvPr/>
        </p:nvSpPr>
        <p:spPr>
          <a:xfrm xmlns:a="http://schemas.openxmlformats.org/drawingml/2006/main">
            <a:off x="666750" y="50958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4A37"/>
                </a:solidFill>
                <a:latin typeface="Helvetica Neue"/>
                <a:ea typeface="Helvetica Neue"/>
                <a:cs typeface="Helvetica Neue"/>
              </a:defRPr>
            </a:pPr>
            <a:r>
              <a:rPr sz="2400" b="1">
                <a:solidFill>
                  <a:srgbClr val="184A37"/>
                </a:solidFill>
                <a:latin typeface="Helvetica Neue"/>
                <a:ea typeface="Helvetica Neue"/>
                <a:cs typeface="Helvetica Neue"/>
              </a:rPr>
              <a:t>Returning players</a:t>
            </a:r>
          </a:p>
        </p:txBody>
      </p:sp>
      <p:sp>
        <p:nvSpPr>
          <p:cNvPr id="11" name="">
            <a:extLst xmlns:a="http://schemas.openxmlformats.org/drawingml/2006/main">
              <a:ext uri="{FF2B5EF4-FFF2-40B4-BE49-F238E27FC236}">
                <a16:creationId xmlns:a16="http://schemas.microsoft.com/office/drawing/2014/main" id="{74D3E67B-A125-4C12-83E3-3C08BC66459B}"/>
              </a:ext>
            </a:extLst>
          </p:cNvPr>
          <p:cNvSpPr>
            <a:spLocks xmlns:a="http://schemas.openxmlformats.org/drawingml/2006/main" noGrp="1"/>
          </p:cNvSpPr>
          <p:nvPr/>
        </p:nvSpPr>
        <p:spPr>
          <a:xfrm xmlns:a="http://schemas.openxmlformats.org/drawingml/2006/main">
            <a:off x="666750" y="56673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4A37"/>
                </a:solidFill>
                <a:latin typeface="Helvetica Neue"/>
                <a:ea typeface="Helvetica Neue"/>
                <a:cs typeface="Helvetica Neue"/>
              </a:defRPr>
            </a:pPr>
            <a:r>
              <a:rPr sz="2100" b="0">
                <a:solidFill>
                  <a:srgbClr val="184A37"/>
                </a:solidFill>
                <a:latin typeface="Helvetica Neue"/>
                <a:ea typeface="Helvetica Neue"/>
                <a:cs typeface="Helvetica Neue"/>
              </a:rPr>
              <a:t>The same browser restores the score, pending round and private history</a:t>
            </a:r>
          </a:p>
        </p:txBody>
      </p:sp>
    </p:spTree>
    <p:extLst>
      <p:ext uri="{BB962C8B-B14F-4D97-AF65-F5344CB8AC3E}">
        <p14:creationId xmlns:p14="http://schemas.microsoft.com/office/powerpoint/2010/main" val="2076458702"/>
      </p:ext>
    </p:extLst>
  </p:cSld>
</p:sld>
</file>

<file path=ppt/slides/slide3.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669B684-7BA7-417B-9D57-F5DBAE5446AA}"/>
              </a:ext>
            </a:extLst>
          </p:cNvPr>
          <p:cNvSpPr>
            <a:spLocks xmlns:a="http://schemas.openxmlformats.org/drawingml/2006/main" noGrp="1"/>
          </p:cNvSpPr>
          <p:nvPr/>
        </p:nvSpPr>
        <p:spPr>
          <a:xfrm xmlns:a="http://schemas.openxmlformats.org/drawingml/2006/main">
            <a:off x="666750" y="428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4A37"/>
                </a:solidFill>
                <a:latin typeface="Helvetica Neue"/>
                <a:ea typeface="Helvetica Neue"/>
                <a:cs typeface="Helvetica Neue"/>
              </a:defRPr>
            </a:pPr>
            <a:r>
              <a:rPr sz="3450" b="1">
                <a:solidFill>
                  <a:srgbClr val="184A37"/>
                </a:solidFill>
                <a:latin typeface="Helvetica Neue"/>
                <a:ea typeface="Helvetica Neue"/>
                <a:cs typeface="Helvetica Neue"/>
              </a:rPr>
              <a:t>Local architecture</a:t>
            </a:r>
          </a:p>
        </p:txBody>
      </p:sp>
      <p:sp>
        <p:nvSpPr>
          <p:cNvPr id="2" name="">
            <a:extLst xmlns:a="http://schemas.openxmlformats.org/drawingml/2006/main">
              <a:ext uri="{FF2B5EF4-FFF2-40B4-BE49-F238E27FC236}">
                <a16:creationId xmlns:a16="http://schemas.microsoft.com/office/drawing/2014/main" id="{4FC64369-5843-418B-93FA-18D4676E9804}"/>
              </a:ext>
            </a:extLst>
          </p:cNvPr>
          <p:cNvSpPr>
            <a:spLocks xmlns:a="http://schemas.openxmlformats.org/drawingml/2006/main" noGrp="1"/>
          </p:cNvSpPr>
          <p:nvPr/>
        </p:nvSpPr>
        <p:spPr>
          <a:xfrm xmlns:a="http://schemas.openxmlformats.org/drawingml/2006/main">
            <a:off x="11191875"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B655E"/>
                </a:solidFill>
                <a:latin typeface="Helvetica Neue"/>
                <a:ea typeface="Helvetica Neue"/>
                <a:cs typeface="Helvetica Neue"/>
              </a:defRPr>
            </a:pPr>
            <a:r>
              <a:rPr sz="1500" b="0">
                <a:solidFill>
                  <a:srgbClr val="5B655E"/>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C3EAFE68-4144-4B14-9902-5E4D52D3245F}"/>
              </a:ext>
            </a:extLst>
          </p:cNvPr>
          <p:cNvSpPr>
            <a:spLocks xmlns:a="http://schemas.openxmlformats.org/drawingml/2006/main" noGrp="1"/>
          </p:cNvSpPr>
          <p:nvPr/>
        </p:nvSpPr>
        <p:spPr>
          <a:xfrm xmlns:a="http://schemas.openxmlformats.org/drawingml/2006/main">
            <a:off x="666750" y="1714500"/>
            <a:ext cx="3048000"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Coinbase Exchange</a:t>
            </a:r>
          </a:p>
        </p:txBody>
      </p:sp>
      <p:sp>
        <p:nvSpPr>
          <p:cNvPr id="4" name="">
            <a:extLst xmlns:a="http://schemas.openxmlformats.org/drawingml/2006/main">
              <a:ext uri="{FF2B5EF4-FFF2-40B4-BE49-F238E27FC236}">
                <a16:creationId xmlns:a16="http://schemas.microsoft.com/office/drawing/2014/main" id="{790ABA87-3342-4F32-8901-0613BF648F7C}"/>
              </a:ext>
            </a:extLst>
          </p:cNvPr>
          <p:cNvSpPr>
            <a:spLocks xmlns:a="http://schemas.openxmlformats.org/drawingml/2006/main" noGrp="1"/>
          </p:cNvSpPr>
          <p:nvPr/>
        </p:nvSpPr>
        <p:spPr>
          <a:xfrm xmlns:a="http://schemas.openxmlformats.org/drawingml/2006/main">
            <a:off x="5143500" y="1714500"/>
            <a:ext cx="3286125" cy="85725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Collector + recovery</a:t>
            </a:r>
          </a:p>
        </p:txBody>
      </p:sp>
      <p:sp>
        <p:nvSpPr>
          <p:cNvPr id="5" name="">
            <a:extLst xmlns:a="http://schemas.openxmlformats.org/drawingml/2006/main">
              <a:ext uri="{FF2B5EF4-FFF2-40B4-BE49-F238E27FC236}">
                <a16:creationId xmlns:a16="http://schemas.microsoft.com/office/drawing/2014/main" id="{9957EC77-3077-401C-A9B6-B05AF94FB190}"/>
              </a:ext>
            </a:extLst>
          </p:cNvPr>
          <p:cNvSpPr>
            <a:spLocks xmlns:a="http://schemas.openxmlformats.org/drawingml/2006/main" noGrp="1"/>
          </p:cNvSpPr>
          <p:nvPr/>
        </p:nvSpPr>
        <p:spPr>
          <a:xfrm xmlns:a="http://schemas.openxmlformats.org/drawingml/2006/main">
            <a:off x="5143500" y="3810000"/>
            <a:ext cx="3286125"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PostgreSQL</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Trade ledger, rounds, score</a:t>
            </a:r>
          </a:p>
        </p:txBody>
      </p:sp>
      <p:sp>
        <p:nvSpPr>
          <p:cNvPr id="6" name="">
            <a:extLst xmlns:a="http://schemas.openxmlformats.org/drawingml/2006/main">
              <a:ext uri="{FF2B5EF4-FFF2-40B4-BE49-F238E27FC236}">
                <a16:creationId xmlns:a16="http://schemas.microsoft.com/office/drawing/2014/main" id="{54DB1B7A-A4D3-4E2A-BA31-C08F2D8A55F0}"/>
              </a:ext>
            </a:extLst>
          </p:cNvPr>
          <p:cNvSpPr>
            <a:spLocks xmlns:a="http://schemas.openxmlformats.org/drawingml/2006/main" noGrp="1"/>
          </p:cNvSpPr>
          <p:nvPr/>
        </p:nvSpPr>
        <p:spPr>
          <a:xfrm xmlns:a="http://schemas.openxmlformats.org/drawingml/2006/main">
            <a:off x="666750" y="3810000"/>
            <a:ext cx="2476500"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React browser</a:t>
            </a:r>
          </a:p>
        </p:txBody>
      </p:sp>
      <p:sp>
        <p:nvSpPr>
          <p:cNvPr id="7" name="">
            <a:extLst xmlns:a="http://schemas.openxmlformats.org/drawingml/2006/main">
              <a:ext uri="{FF2B5EF4-FFF2-40B4-BE49-F238E27FC236}">
                <a16:creationId xmlns:a16="http://schemas.microsoft.com/office/drawing/2014/main" id="{18FCDE40-0BAC-4882-B6E9-9419BA565BF8}"/>
              </a:ext>
            </a:extLst>
          </p:cNvPr>
          <p:cNvSpPr>
            <a:spLocks xmlns:a="http://schemas.openxmlformats.org/drawingml/2006/main" noGrp="1"/>
          </p:cNvSpPr>
          <p:nvPr/>
        </p:nvSpPr>
        <p:spPr>
          <a:xfrm xmlns:a="http://schemas.openxmlformats.org/drawingml/2006/main">
            <a:off x="666750" y="5286375"/>
            <a:ext cx="2476500" cy="76200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Fastify API</a:t>
            </a:r>
          </a:p>
        </p:txBody>
      </p:sp>
      <p:sp>
        <p:nvSpPr>
          <p:cNvPr id="8" name="">
            <a:extLst xmlns:a="http://schemas.openxmlformats.org/drawingml/2006/main">
              <a:ext uri="{FF2B5EF4-FFF2-40B4-BE49-F238E27FC236}">
                <a16:creationId xmlns:a16="http://schemas.microsoft.com/office/drawing/2014/main" id="{CEF9344C-A1D6-44FF-99D6-DABFC632034A}"/>
              </a:ext>
            </a:extLst>
          </p:cNvPr>
          <p:cNvSpPr>
            <a:spLocks xmlns:a="http://schemas.openxmlformats.org/drawingml/2006/main" noGrp="1"/>
          </p:cNvSpPr>
          <p:nvPr/>
        </p:nvSpPr>
        <p:spPr>
          <a:xfrm xmlns:a="http://schemas.openxmlformats.org/drawingml/2006/main">
            <a:off x="9191625" y="3810000"/>
            <a:ext cx="2333625" cy="104775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Settlement worker</a:t>
            </a:r>
          </a:p>
        </p:txBody>
      </p:sp>
      <p:cxnSp>
        <p:nvCxnSpPr>
          <p:cNvPr id="26" name=""/>
          <p:cNvCxnSpPr>
            <a:stCxn xmlns:a="http://schemas.openxmlformats.org/drawingml/2006/main" id="3" idx="3"/>
            <a:endCxn xmlns:a="http://schemas.openxmlformats.org/drawingml/2006/main" id="4" idx="1"/>
          </p:cNvCxnSpPr>
          <p:nvPr/>
        </p:nvCxnSpPr>
        <p:spPr>
          <a:xfrm xmlns:a="http://schemas.openxmlformats.org/drawingml/2006/main">
            <a:off x="3714750" y="2143125"/>
            <a:ext cx="1428750" cy="0"/>
          </a:xfrm>
          <a:prstGeom xmlns:a="http://schemas.openxmlformats.org/drawingml/2006/main" prst="straightConnector1">
            <a:avLst/>
          </a:prstGeom>
          <a:ln xmlns:a="http://schemas.openxmlformats.org/drawingml/2006/main" w="19050">
            <a:solidFill>
              <a:srgbClr val="184A37"/>
            </a:solidFill>
            <a:tailEnd type="arrow" w="med" len="med"/>
          </a:ln>
        </p:spPr>
      </p:cxnSp>
      <p:sp>
        <p:nvSpPr>
          <p:cNvPr id="10" name="">
            <a:extLst xmlns:a="http://schemas.openxmlformats.org/drawingml/2006/main">
              <a:ext uri="{FF2B5EF4-FFF2-40B4-BE49-F238E27FC236}">
                <a16:creationId xmlns:a16="http://schemas.microsoft.com/office/drawing/2014/main" id="{C33CC87E-939A-414D-8B0A-F0EBC9E71834}"/>
              </a:ext>
            </a:extLst>
          </p:cNvPr>
          <p:cNvSpPr>
            <a:spLocks xmlns:a="http://schemas.openxmlformats.org/drawingml/2006/main" noGrp="1"/>
          </p:cNvSpPr>
          <p:nvPr/>
        </p:nvSpPr>
        <p:spPr>
          <a:xfrm xmlns:a="http://schemas.openxmlformats.org/drawingml/2006/main">
            <a:off x="666750" y="27622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B655E"/>
                </a:solidFill>
                <a:latin typeface="Helvetica Neue"/>
                <a:ea typeface="Helvetica Neue"/>
                <a:cs typeface="Helvetica Neue"/>
              </a:defRPr>
            </a:pPr>
            <a:r>
              <a:rPr sz="1800" b="0">
                <a:solidFill>
                  <a:srgbClr val="5B655E"/>
                </a:solidFill>
                <a:latin typeface="Helvetica Neue"/>
                <a:ea typeface="Helvetica Neue"/>
                <a:cs typeface="Helvetica Neue"/>
              </a:rPr>
              <a:t>WebSocket + REST</a:t>
            </a:r>
          </a:p>
        </p:txBody>
      </p:sp>
      <p:cxnSp>
        <p:nvCxnSpPr>
          <p:cNvPr id="28" name=""/>
          <p:cNvCxnSpPr>
            <a:stCxn xmlns:a="http://schemas.openxmlformats.org/drawingml/2006/main" id="4" idx="2"/>
            <a:endCxn xmlns:a="http://schemas.openxmlformats.org/drawingml/2006/main" id="5" idx="0"/>
          </p:cNvCxnSpPr>
          <p:nvPr/>
        </p:nvCxnSpPr>
        <p:spPr>
          <a:xfrm xmlns:a="http://schemas.openxmlformats.org/drawingml/2006/main">
            <a:off x="6786563" y="2571750"/>
            <a:ext cx="0" cy="1238250"/>
          </a:xfrm>
          <a:prstGeom xmlns:a="http://schemas.openxmlformats.org/drawingml/2006/main" prst="straightConnector1">
            <a:avLst/>
          </a:prstGeom>
          <a:ln xmlns:a="http://schemas.openxmlformats.org/drawingml/2006/main" w="19050">
            <a:solidFill>
              <a:srgbClr val="184A37"/>
            </a:solidFill>
            <a:tailEnd type="arrow" w="med" len="med"/>
          </a:ln>
        </p:spPr>
      </p:cxnSp>
      <p:sp>
        <p:nvSpPr>
          <p:cNvPr id="12" name="">
            <a:extLst xmlns:a="http://schemas.openxmlformats.org/drawingml/2006/main">
              <a:ext uri="{FF2B5EF4-FFF2-40B4-BE49-F238E27FC236}">
                <a16:creationId xmlns:a16="http://schemas.microsoft.com/office/drawing/2014/main" id="{4B55A74B-A51C-4102-AC27-A2798D817DE4}"/>
              </a:ext>
            </a:extLst>
          </p:cNvPr>
          <p:cNvSpPr>
            <a:spLocks xmlns:a="http://schemas.openxmlformats.org/drawingml/2006/main" noGrp="1"/>
          </p:cNvSpPr>
          <p:nvPr/>
        </p:nvSpPr>
        <p:spPr>
          <a:xfrm xmlns:a="http://schemas.openxmlformats.org/drawingml/2006/main">
            <a:off x="7572375" y="309562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B655E"/>
                </a:solidFill>
                <a:latin typeface="Helvetica Neue"/>
                <a:ea typeface="Helvetica Neue"/>
                <a:cs typeface="Helvetica Neue"/>
              </a:defRPr>
            </a:pPr>
            <a:r>
              <a:rPr sz="1800" b="0">
                <a:solidFill>
                  <a:srgbClr val="5B655E"/>
                </a:solidFill>
                <a:latin typeface="Helvetica Neue"/>
                <a:ea typeface="Helvetica Neue"/>
                <a:cs typeface="Helvetica Neue"/>
              </a:rPr>
              <a:t>Verified coverage</a:t>
            </a:r>
          </a:p>
        </p:txBody>
      </p:sp>
      <p:cxnSp>
        <p:nvCxnSpPr>
          <p:cNvPr id="30" name=""/>
          <p:cNvCxnSpPr>
            <a:stCxn xmlns:a="http://schemas.openxmlformats.org/drawingml/2006/main" id="6" idx="2"/>
            <a:endCxn xmlns:a="http://schemas.openxmlformats.org/drawingml/2006/main" id="7" idx="0"/>
          </p:cNvCxnSpPr>
          <p:nvPr/>
        </p:nvCxnSpPr>
        <p:spPr>
          <a:xfrm xmlns:a="http://schemas.openxmlformats.org/drawingml/2006/main">
            <a:off x="1905000" y="4857750"/>
            <a:ext cx="0" cy="428625"/>
          </a:xfrm>
          <a:prstGeom xmlns:a="http://schemas.openxmlformats.org/drawingml/2006/main" prst="straightConnector1">
            <a:avLst/>
          </a:prstGeom>
          <a:ln xmlns:a="http://schemas.openxmlformats.org/drawingml/2006/main" w="19050">
            <a:solidFill>
              <a:srgbClr val="184A37"/>
            </a:solidFill>
            <a:tailEnd type="arrow" w="med" len="med"/>
          </a:ln>
        </p:spPr>
      </p:cxnSp>
      <p:cxnSp>
        <p:nvCxnSpPr>
          <p:cNvPr id="31" name=""/>
          <p:cNvCxnSpPr>
            <a:stCxn xmlns:a="http://schemas.openxmlformats.org/drawingml/2006/main" id="7" idx="3"/>
            <a:endCxn xmlns:a="http://schemas.openxmlformats.org/drawingml/2006/main" id="5" idx="1"/>
          </p:cNvCxnSpPr>
          <p:nvPr/>
        </p:nvCxnSpPr>
        <p:spPr>
          <a:xfrm xmlns:a="http://schemas.openxmlformats.org/drawingml/2006/main" flipV="1">
            <a:off x="3143250" y="4333875"/>
            <a:ext cx="2000250" cy="1333500"/>
          </a:xfrm>
          <a:prstGeom xmlns:a="http://schemas.openxmlformats.org/drawingml/2006/main" prst="straightConnector1">
            <a:avLst/>
          </a:prstGeom>
          <a:ln xmlns:a="http://schemas.openxmlformats.org/drawingml/2006/main" w="19050">
            <a:solidFill>
              <a:srgbClr val="184A37"/>
            </a:solidFill>
            <a:tailEnd type="arrow" w="med" len="med"/>
          </a:ln>
        </p:spPr>
      </p:cxnSp>
      <p:cxnSp>
        <p:nvCxnSpPr>
          <p:cNvPr id="32" name=""/>
          <p:cNvCxnSpPr>
            <a:stCxn xmlns:a="http://schemas.openxmlformats.org/drawingml/2006/main" id="8" idx="1"/>
            <a:endCxn xmlns:a="http://schemas.openxmlformats.org/drawingml/2006/main" id="5" idx="3"/>
          </p:cNvCxnSpPr>
          <p:nvPr/>
        </p:nvCxnSpPr>
        <p:spPr>
          <a:xfrm xmlns:a="http://schemas.openxmlformats.org/drawingml/2006/main" flipH="1">
            <a:off x="8429625" y="4333875"/>
            <a:ext cx="762000" cy="0"/>
          </a:xfrm>
          <a:prstGeom xmlns:a="http://schemas.openxmlformats.org/drawingml/2006/main" prst="straightConnector1">
            <a:avLst/>
          </a:prstGeom>
          <a:ln xmlns:a="http://schemas.openxmlformats.org/drawingml/2006/main" w="19050">
            <a:solidFill>
              <a:srgbClr val="184A37"/>
            </a:solidFill>
            <a:tailEnd type="arrow" w="med" len="med"/>
          </a:ln>
        </p:spPr>
      </p:cxnSp>
      <p:sp>
        <p:nvSpPr>
          <p:cNvPr id="16" name="">
            <a:extLst xmlns:a="http://schemas.openxmlformats.org/drawingml/2006/main">
              <a:ext uri="{FF2B5EF4-FFF2-40B4-BE49-F238E27FC236}">
                <a16:creationId xmlns:a16="http://schemas.microsoft.com/office/drawing/2014/main" id="{BBB4AF4E-F0B8-4DD0-B3F1-18F081254912}"/>
              </a:ext>
            </a:extLst>
          </p:cNvPr>
          <p:cNvSpPr>
            <a:spLocks xmlns:a="http://schemas.openxmlformats.org/drawingml/2006/main" noGrp="1"/>
          </p:cNvSpPr>
          <p:nvPr/>
        </p:nvSpPr>
        <p:spPr>
          <a:xfrm xmlns:a="http://schemas.openxmlformats.org/drawingml/2006/main">
            <a:off x="9144000" y="5143500"/>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B655E"/>
                </a:solidFill>
                <a:latin typeface="Helvetica Neue"/>
                <a:ea typeface="Helvetica Neue"/>
                <a:cs typeface="Helvetica Neue"/>
              </a:defRPr>
            </a:pPr>
            <a:r>
              <a:rPr sz="1800" b="0">
                <a:solidFill>
                  <a:srgbClr val="5B655E"/>
                </a:solidFill>
                <a:latin typeface="Helvetica Neue"/>
                <a:ea typeface="Helvetica Neue"/>
                <a:cs typeface="Helvetica Neue"/>
              </a:rPr>
              <a:t>Every second</a:t>
            </a:r>
          </a:p>
        </p:txBody>
      </p:sp>
      <p:sp>
        <p:nvSpPr>
          <p:cNvPr id="17" name="">
            <a:extLst xmlns:a="http://schemas.openxmlformats.org/drawingml/2006/main">
              <a:ext uri="{FF2B5EF4-FFF2-40B4-BE49-F238E27FC236}">
                <a16:creationId xmlns:a16="http://schemas.microsoft.com/office/drawing/2014/main" id="{143EC38A-760C-4F87-91C7-5C63616C54C7}"/>
              </a:ext>
            </a:extLst>
          </p:cNvPr>
          <p:cNvSpPr>
            <a:spLocks xmlns:a="http://schemas.openxmlformats.org/drawingml/2006/main" noGrp="1"/>
          </p:cNvSpPr>
          <p:nvPr/>
        </p:nvSpPr>
        <p:spPr>
          <a:xfrm xmlns:a="http://schemas.openxmlformats.org/drawingml/2006/main">
            <a:off x="4095750" y="5619750"/>
            <a:ext cx="733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4A37"/>
                </a:solidFill>
                <a:latin typeface="Helvetica Neue"/>
                <a:ea typeface="Helvetica Neue"/>
                <a:cs typeface="Helvetica Neue"/>
              </a:defRPr>
            </a:pPr>
            <a:r>
              <a:rPr sz="1950" b="0">
                <a:solidFill>
                  <a:srgbClr val="184A37"/>
                </a:solidFill>
                <a:latin typeface="Helvetica Neue"/>
                <a:ea typeface="Helvetica Neue"/>
                <a:cs typeface="Helvetica Neue"/>
              </a:rPr>
              <a:t>API and both workers share one continuously running Node service</a:t>
            </a:r>
          </a:p>
        </p:txBody>
      </p:sp>
    </p:spTree>
    <p:extLst>
      <p:ext uri="{BB962C8B-B14F-4D97-AF65-F5344CB8AC3E}">
        <p14:creationId xmlns:p14="http://schemas.microsoft.com/office/powerpoint/2010/main" val="163287330"/>
      </p:ext>
    </p:extLst>
  </p:cSld>
</p:sld>
</file>

<file path=ppt/slides/slide4.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66CAEE-8711-4E21-8790-C381C7CB0132}"/>
              </a:ext>
            </a:extLst>
          </p:cNvPr>
          <p:cNvSpPr>
            <a:spLocks xmlns:a="http://schemas.openxmlformats.org/drawingml/2006/main" noGrp="1"/>
          </p:cNvSpPr>
          <p:nvPr/>
        </p:nvSpPr>
        <p:spPr>
          <a:xfrm xmlns:a="http://schemas.openxmlformats.org/drawingml/2006/main">
            <a:off x="666750" y="428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4A37"/>
                </a:solidFill>
                <a:latin typeface="Helvetica Neue"/>
                <a:ea typeface="Helvetica Neue"/>
                <a:cs typeface="Helvetica Neue"/>
              </a:defRPr>
            </a:pPr>
            <a:r>
              <a:rPr sz="3450" b="1">
                <a:solidFill>
                  <a:srgbClr val="184A37"/>
                </a:solidFill>
                <a:latin typeface="Helvetica Neue"/>
                <a:ea typeface="Helvetica Neue"/>
                <a:cs typeface="Helvetica Neue"/>
              </a:rPr>
              <a:t>Settlement rules</a:t>
            </a:r>
          </a:p>
        </p:txBody>
      </p:sp>
      <p:sp>
        <p:nvSpPr>
          <p:cNvPr id="2" name="">
            <a:extLst xmlns:a="http://schemas.openxmlformats.org/drawingml/2006/main">
              <a:ext uri="{FF2B5EF4-FFF2-40B4-BE49-F238E27FC236}">
                <a16:creationId xmlns:a16="http://schemas.microsoft.com/office/drawing/2014/main" id="{562ACD2F-DFEA-4332-9F32-855AA1451039}"/>
              </a:ext>
            </a:extLst>
          </p:cNvPr>
          <p:cNvSpPr>
            <a:spLocks xmlns:a="http://schemas.openxmlformats.org/drawingml/2006/main" noGrp="1"/>
          </p:cNvSpPr>
          <p:nvPr/>
        </p:nvSpPr>
        <p:spPr>
          <a:xfrm xmlns:a="http://schemas.openxmlformats.org/drawingml/2006/main">
            <a:off x="11191875"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B655E"/>
                </a:solidFill>
                <a:latin typeface="Helvetica Neue"/>
                <a:ea typeface="Helvetica Neue"/>
                <a:cs typeface="Helvetica Neue"/>
              </a:defRPr>
            </a:pPr>
            <a:r>
              <a:rPr sz="1500" b="0">
                <a:solidFill>
                  <a:srgbClr val="5B655E"/>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3B1F4139-342A-49E0-BB29-738B124BF62F}"/>
              </a:ext>
            </a:extLst>
          </p:cNvPr>
          <p:cNvSpPr>
            <a:spLocks xmlns:a="http://schemas.openxmlformats.org/drawingml/2006/main" noGrp="1"/>
          </p:cNvSpPr>
          <p:nvPr/>
        </p:nvSpPr>
        <p:spPr>
          <a:xfrm xmlns:a="http://schemas.openxmlformats.org/drawingml/2006/main">
            <a:off x="666750" y="1571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4A37"/>
                </a:solidFill>
                <a:latin typeface="Helvetica Neue"/>
                <a:ea typeface="Helvetica Neue"/>
                <a:cs typeface="Helvetica Neue"/>
              </a:defRPr>
            </a:pPr>
            <a:r>
              <a:rPr sz="2400" b="1">
                <a:solidFill>
                  <a:srgbClr val="184A37"/>
                </a:solidFill>
                <a:latin typeface="Helvetica Neue"/>
                <a:ea typeface="Helvetica Neue"/>
                <a:cs typeface="Helvetica Neue"/>
              </a:rPr>
              <a:t>Illustrative Up guess, starting price $100</a:t>
            </a:r>
          </a:p>
        </p:txBody>
      </p:sp>
      <p:sp>
        <p:nvSpPr>
          <p:cNvPr id="4" name="">
            <a:extLst xmlns:a="http://schemas.openxmlformats.org/drawingml/2006/main">
              <a:ext uri="{FF2B5EF4-FFF2-40B4-BE49-F238E27FC236}">
                <a16:creationId xmlns:a16="http://schemas.microsoft.com/office/drawing/2014/main" id="{46C18D20-15F4-40DE-95A1-ABBF0E390E7B}"/>
              </a:ext>
            </a:extLst>
          </p:cNvPr>
          <p:cNvSpPr>
            <a:spLocks xmlns:a="http://schemas.openxmlformats.org/drawingml/2006/main" noGrp="1"/>
          </p:cNvSpPr>
          <p:nvPr/>
        </p:nvSpPr>
        <p:spPr>
          <a:xfrm xmlns:a="http://schemas.openxmlformats.org/drawingml/2006/main">
            <a:off x="666750" y="2619375"/>
            <a:ext cx="204787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Accepted</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t = 0</a:t>
            </a:r>
          </a:p>
        </p:txBody>
      </p:sp>
      <p:sp>
        <p:nvSpPr>
          <p:cNvPr id="5" name="">
            <a:extLst xmlns:a="http://schemas.openxmlformats.org/drawingml/2006/main">
              <a:ext uri="{FF2B5EF4-FFF2-40B4-BE49-F238E27FC236}">
                <a16:creationId xmlns:a16="http://schemas.microsoft.com/office/drawing/2014/main" id="{B92D729A-8906-4E4B-A8F4-A8514FF88086}"/>
              </a:ext>
            </a:extLst>
          </p:cNvPr>
          <p:cNvSpPr>
            <a:spLocks xmlns:a="http://schemas.openxmlformats.org/drawingml/2006/main" noGrp="1"/>
          </p:cNvSpPr>
          <p:nvPr/>
        </p:nvSpPr>
        <p:spPr>
          <a:xfrm xmlns:a="http://schemas.openxmlformats.org/drawingml/2006/main">
            <a:off x="3429000" y="2619375"/>
            <a:ext cx="204787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Deadline</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t = 60s</a:t>
            </a:r>
          </a:p>
        </p:txBody>
      </p:sp>
      <p:sp>
        <p:nvSpPr>
          <p:cNvPr id="6" name="">
            <a:extLst xmlns:a="http://schemas.openxmlformats.org/drawingml/2006/main">
              <a:ext uri="{FF2B5EF4-FFF2-40B4-BE49-F238E27FC236}">
                <a16:creationId xmlns:a16="http://schemas.microsoft.com/office/drawing/2014/main" id="{DDA32B6C-6916-4AA1-9913-97BFD741C40B}"/>
              </a:ext>
            </a:extLst>
          </p:cNvPr>
          <p:cNvSpPr>
            <a:spLocks xmlns:a="http://schemas.openxmlformats.org/drawingml/2006/main" noGrp="1"/>
          </p:cNvSpPr>
          <p:nvPr/>
        </p:nvSpPr>
        <p:spPr>
          <a:xfrm xmlns:a="http://schemas.openxmlformats.org/drawingml/2006/main">
            <a:off x="6191250" y="2619375"/>
            <a:ext cx="2047875"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Trade at 60s</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$100</a:t>
            </a:r>
          </a:p>
        </p:txBody>
      </p:sp>
      <p:sp>
        <p:nvSpPr>
          <p:cNvPr id="7" name="">
            <a:extLst xmlns:a="http://schemas.openxmlformats.org/drawingml/2006/main">
              <a:ext uri="{FF2B5EF4-FFF2-40B4-BE49-F238E27FC236}">
                <a16:creationId xmlns:a16="http://schemas.microsoft.com/office/drawing/2014/main" id="{0580740F-052F-4049-9CD0-271E54F24DE6}"/>
              </a:ext>
            </a:extLst>
          </p:cNvPr>
          <p:cNvSpPr>
            <a:spLocks xmlns:a="http://schemas.openxmlformats.org/drawingml/2006/main" noGrp="1"/>
          </p:cNvSpPr>
          <p:nvPr/>
        </p:nvSpPr>
        <p:spPr>
          <a:xfrm xmlns:a="http://schemas.openxmlformats.org/drawingml/2006/main">
            <a:off x="8953500" y="2619375"/>
            <a:ext cx="24765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Trade at 60.2s</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$101</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2714625" y="3095625"/>
            <a:ext cx="714375" cy="0"/>
          </a:xfrm>
          <a:prstGeom xmlns:a="http://schemas.openxmlformats.org/drawingml/2006/main" prst="straightConnector1">
            <a:avLst/>
          </a:prstGeom>
          <a:ln xmlns:a="http://schemas.openxmlformats.org/drawingml/2006/main" w="19050">
            <a:solidFill>
              <a:srgbClr val="184A37"/>
            </a:solidFill>
            <a:tailEnd type="arrow"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5476875" y="3095625"/>
            <a:ext cx="714375" cy="0"/>
          </a:xfrm>
          <a:prstGeom xmlns:a="http://schemas.openxmlformats.org/drawingml/2006/main" prst="straightConnector1">
            <a:avLst/>
          </a:prstGeom>
          <a:ln xmlns:a="http://schemas.openxmlformats.org/drawingml/2006/main" w="19050">
            <a:solidFill>
              <a:srgbClr val="184A37"/>
            </a:solidFill>
            <a:tailEnd type="arrow"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8239125" y="3095625"/>
            <a:ext cx="714375" cy="0"/>
          </a:xfrm>
          <a:prstGeom xmlns:a="http://schemas.openxmlformats.org/drawingml/2006/main" prst="straightConnector1">
            <a:avLst/>
          </a:prstGeom>
          <a:ln xmlns:a="http://schemas.openxmlformats.org/drawingml/2006/main" w="19050">
            <a:solidFill>
              <a:srgbClr val="184A37"/>
            </a:solidFill>
            <a:tailEnd type="arrow" w="med" len="med"/>
          </a:ln>
        </p:spPr>
      </p:cxnSp>
      <p:sp>
        <p:nvSpPr>
          <p:cNvPr id="11" name="">
            <a:extLst xmlns:a="http://schemas.openxmlformats.org/drawingml/2006/main">
              <a:ext uri="{FF2B5EF4-FFF2-40B4-BE49-F238E27FC236}">
                <a16:creationId xmlns:a16="http://schemas.microsoft.com/office/drawing/2014/main" id="{35F1F7AF-9484-41D8-B6B4-7672F094870E}"/>
              </a:ext>
            </a:extLst>
          </p:cNvPr>
          <p:cNvSpPr>
            <a:spLocks xmlns:a="http://schemas.openxmlformats.org/drawingml/2006/main" noGrp="1"/>
          </p:cNvSpPr>
          <p:nvPr/>
        </p:nvSpPr>
        <p:spPr>
          <a:xfrm xmlns:a="http://schemas.openxmlformats.org/drawingml/2006/main">
            <a:off x="666750" y="42386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4A37"/>
                </a:solidFill>
                <a:latin typeface="Helvetica Neue"/>
                <a:ea typeface="Helvetica Neue"/>
                <a:cs typeface="Helvetica Neue"/>
              </a:defRPr>
            </a:pPr>
            <a:r>
              <a:rPr sz="2400" b="0">
                <a:solidFill>
                  <a:srgbClr val="184A37"/>
                </a:solidFill>
                <a:latin typeface="Helvetica Neue"/>
                <a:ea typeface="Helvetica Neue"/>
                <a:cs typeface="Helvetica Neue"/>
              </a:rPr>
              <a:t>Equal price keeps the round pending.</a:t>
            </a:r>
          </a:p>
          <a:p xmlns:a="http://schemas.openxmlformats.org/drawingml/2006/main">
            <a:pPr>
              <a:defRPr sz="2400" b="0">
                <a:solidFill>
                  <a:srgbClr val="184A37"/>
                </a:solidFill>
                <a:latin typeface="Helvetica Neue"/>
                <a:ea typeface="Helvetica Neue"/>
                <a:cs typeface="Helvetica Neue"/>
              </a:defRPr>
            </a:pPr>
            <a:r>
              <a:rPr sz="2400" b="0">
                <a:solidFill>
                  <a:srgbClr val="184A37"/>
                </a:solidFill>
                <a:latin typeface="Helvetica Neue"/>
                <a:ea typeface="Helvetica Neue"/>
                <a:cs typeface="Helvetica Neue"/>
              </a:rPr>
              <a:t>The earliest differing verified trade wins +1 here.</a:t>
            </a:r>
          </a:p>
        </p:txBody>
      </p:sp>
      <p:sp>
        <p:nvSpPr>
          <p:cNvPr id="12" name="">
            <a:extLst xmlns:a="http://schemas.openxmlformats.org/drawingml/2006/main">
              <a:ext uri="{FF2B5EF4-FFF2-40B4-BE49-F238E27FC236}">
                <a16:creationId xmlns:a16="http://schemas.microsoft.com/office/drawing/2014/main" id="{6EB2BEE9-F76A-49A0-B07E-3F32115CBEE5}"/>
              </a:ext>
            </a:extLst>
          </p:cNvPr>
          <p:cNvSpPr>
            <a:spLocks xmlns:a="http://schemas.openxmlformats.org/drawingml/2006/main" noGrp="1"/>
          </p:cNvSpPr>
          <p:nvPr/>
        </p:nvSpPr>
        <p:spPr>
          <a:xfrm xmlns:a="http://schemas.openxmlformats.org/drawingml/2006/main">
            <a:off x="666750" y="5476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B655E"/>
                </a:solidFill>
                <a:latin typeface="Helvetica Neue"/>
                <a:ea typeface="Helvetica Neue"/>
                <a:cs typeface="Helvetica Neue"/>
              </a:defRPr>
            </a:pPr>
            <a:r>
              <a:rPr sz="2100" b="0">
                <a:solidFill>
                  <a:srgbClr val="5B655E"/>
                </a:solidFill>
                <a:latin typeface="Helvetica Neue"/>
                <a:ea typeface="Helvetica Neue"/>
                <a:cs typeface="Helvetica Neue"/>
              </a:rPr>
              <a:t>Down uses the same selection rule. An incorrect call loses one point.</a:t>
            </a:r>
          </a:p>
        </p:txBody>
      </p:sp>
    </p:spTree>
    <p:extLst>
      <p:ext uri="{BB962C8B-B14F-4D97-AF65-F5344CB8AC3E}">
        <p14:creationId xmlns:p14="http://schemas.microsoft.com/office/powerpoint/2010/main" val="1234921079"/>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1FAF76E-7CBB-46A0-BEAC-557B2390CCD4}"/>
              </a:ext>
            </a:extLst>
          </p:cNvPr>
          <p:cNvSpPr>
            <a:spLocks xmlns:a="http://schemas.openxmlformats.org/drawingml/2006/main" noGrp="1"/>
          </p:cNvSpPr>
          <p:nvPr/>
        </p:nvSpPr>
        <p:spPr>
          <a:xfrm xmlns:a="http://schemas.openxmlformats.org/drawingml/2006/main">
            <a:off x="666750" y="428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4A37"/>
                </a:solidFill>
                <a:latin typeface="Helvetica Neue"/>
                <a:ea typeface="Helvetica Neue"/>
                <a:cs typeface="Helvetica Neue"/>
              </a:defRPr>
            </a:pPr>
            <a:r>
              <a:rPr sz="3450" b="1">
                <a:solidFill>
                  <a:srgbClr val="184A37"/>
                </a:solidFill>
                <a:latin typeface="Helvetica Neue"/>
                <a:ea typeface="Helvetica Neue"/>
                <a:cs typeface="Helvetica Neue"/>
              </a:rPr>
              <a:t>Recovery protects the result</a:t>
            </a:r>
          </a:p>
        </p:txBody>
      </p:sp>
      <p:sp>
        <p:nvSpPr>
          <p:cNvPr id="2" name="">
            <a:extLst xmlns:a="http://schemas.openxmlformats.org/drawingml/2006/main">
              <a:ext uri="{FF2B5EF4-FFF2-40B4-BE49-F238E27FC236}">
                <a16:creationId xmlns:a16="http://schemas.microsoft.com/office/drawing/2014/main" id="{BCB80D16-1150-4CFB-9EE6-D7041E262B21}"/>
              </a:ext>
            </a:extLst>
          </p:cNvPr>
          <p:cNvSpPr>
            <a:spLocks xmlns:a="http://schemas.openxmlformats.org/drawingml/2006/main" noGrp="1"/>
          </p:cNvSpPr>
          <p:nvPr/>
        </p:nvSpPr>
        <p:spPr>
          <a:xfrm xmlns:a="http://schemas.openxmlformats.org/drawingml/2006/main">
            <a:off x="11191875"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B655E"/>
                </a:solidFill>
                <a:latin typeface="Helvetica Neue"/>
                <a:ea typeface="Helvetica Neue"/>
                <a:cs typeface="Helvetica Neue"/>
              </a:defRPr>
            </a:pPr>
            <a:r>
              <a:rPr sz="1500" b="0">
                <a:solidFill>
                  <a:srgbClr val="5B655E"/>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C633CB7C-52A9-4C7E-8A86-AB2AD27C133E}"/>
              </a:ext>
            </a:extLst>
          </p:cNvPr>
          <p:cNvSpPr>
            <a:spLocks xmlns:a="http://schemas.openxmlformats.org/drawingml/2006/main" noGrp="1"/>
          </p:cNvSpPr>
          <p:nvPr/>
        </p:nvSpPr>
        <p:spPr>
          <a:xfrm xmlns:a="http://schemas.openxmlformats.org/drawingml/2006/main">
            <a:off x="666750" y="2047875"/>
            <a:ext cx="25717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Unverified gap</a:t>
            </a:r>
          </a:p>
        </p:txBody>
      </p:sp>
      <p:sp>
        <p:nvSpPr>
          <p:cNvPr id="4" name="">
            <a:extLst xmlns:a="http://schemas.openxmlformats.org/drawingml/2006/main">
              <a:ext uri="{FF2B5EF4-FFF2-40B4-BE49-F238E27FC236}">
                <a16:creationId xmlns:a16="http://schemas.microsoft.com/office/drawing/2014/main" id="{18C9C62A-56F9-4DE6-AE10-5D4308C9141F}"/>
              </a:ext>
            </a:extLst>
          </p:cNvPr>
          <p:cNvSpPr>
            <a:spLocks xmlns:a="http://schemas.openxmlformats.org/drawingml/2006/main" noGrp="1"/>
          </p:cNvSpPr>
          <p:nvPr/>
        </p:nvSpPr>
        <p:spPr>
          <a:xfrm xmlns:a="http://schemas.openxmlformats.org/drawingml/2006/main">
            <a:off x="4191000" y="2047875"/>
            <a:ext cx="33337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REST history +</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buffered WebSocket</a:t>
            </a:r>
          </a:p>
        </p:txBody>
      </p:sp>
      <p:sp>
        <p:nvSpPr>
          <p:cNvPr id="5" name="">
            <a:extLst xmlns:a="http://schemas.openxmlformats.org/drawingml/2006/main">
              <a:ext uri="{FF2B5EF4-FFF2-40B4-BE49-F238E27FC236}">
                <a16:creationId xmlns:a16="http://schemas.microsoft.com/office/drawing/2014/main" id="{B063A71C-CD1D-4D2F-A15C-06D59C16B3E5}"/>
              </a:ext>
            </a:extLst>
          </p:cNvPr>
          <p:cNvSpPr>
            <a:spLocks xmlns:a="http://schemas.openxmlformats.org/drawingml/2006/main" noGrp="1"/>
          </p:cNvSpPr>
          <p:nvPr/>
        </p:nvSpPr>
        <p:spPr>
          <a:xfrm xmlns:a="http://schemas.openxmlformats.org/drawingml/2006/main">
            <a:off x="8477250" y="2047875"/>
            <a:ext cx="304800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84A37"/>
            </a:solidFill>
          </a:ln>
        </p:spPr>
        <p:txBody>
          <a:bodyPr xmlns:a="http://schemas.openxmlformats.org/drawingml/2006/main">
            <a:noAutofit/>
          </a:bodyPr>
          <a:lstStyle xmlns:a="http://schemas.openxmlformats.org/drawingml/2006/main"/>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Atomic ledger +</a:t>
            </a:r>
          </a:p>
          <a:p xmlns:a="http://schemas.openxmlformats.org/drawingml/2006/main">
            <a:pPr algn="ctr">
              <a:defRPr sz="1950" b="1">
                <a:solidFill>
                  <a:srgbClr val="184A37"/>
                </a:solidFill>
                <a:latin typeface="Helvetica Neue"/>
                <a:ea typeface="Helvetica Neue"/>
                <a:cs typeface="Helvetica Neue"/>
              </a:defRPr>
            </a:pPr>
            <a:r>
              <a:rPr sz="1950" b="1">
                <a:solidFill>
                  <a:srgbClr val="184A37"/>
                </a:solidFill>
                <a:latin typeface="Helvetica Neue"/>
                <a:ea typeface="Helvetica Neue"/>
                <a:cs typeface="Helvetica Neue"/>
              </a:rPr>
              <a:t>coverage checkpoint</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238500" y="2524125"/>
            <a:ext cx="952500" cy="0"/>
          </a:xfrm>
          <a:prstGeom xmlns:a="http://schemas.openxmlformats.org/drawingml/2006/main" prst="straightConnector1">
            <a:avLst/>
          </a:prstGeom>
          <a:ln xmlns:a="http://schemas.openxmlformats.org/drawingml/2006/main" w="19050">
            <a:solidFill>
              <a:srgbClr val="184A37"/>
            </a:solidFill>
            <a:tailEnd type="arrow" w="med" len="med"/>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524750" y="2524125"/>
            <a:ext cx="952500" cy="0"/>
          </a:xfrm>
          <a:prstGeom xmlns:a="http://schemas.openxmlformats.org/drawingml/2006/main" prst="straightConnector1">
            <a:avLst/>
          </a:prstGeom>
          <a:ln xmlns:a="http://schemas.openxmlformats.org/drawingml/2006/main" w="19050">
            <a:solidFill>
              <a:srgbClr val="184A37"/>
            </a:solidFill>
            <a:tailEnd type="arrow" w="med" len="med"/>
          </a:ln>
        </p:spPr>
      </p:cxnSp>
      <p:sp>
        <p:nvSpPr>
          <p:cNvPr id="8" name="">
            <a:extLst xmlns:a="http://schemas.openxmlformats.org/drawingml/2006/main">
              <a:ext uri="{FF2B5EF4-FFF2-40B4-BE49-F238E27FC236}">
                <a16:creationId xmlns:a16="http://schemas.microsoft.com/office/drawing/2014/main" id="{24A707DE-16AE-4DEB-AFB9-706B81E1B41E}"/>
              </a:ext>
            </a:extLst>
          </p:cNvPr>
          <p:cNvSpPr>
            <a:spLocks xmlns:a="http://schemas.openxmlformats.org/drawingml/2006/main" noGrp="1"/>
          </p:cNvSpPr>
          <p:nvPr/>
        </p:nvSpPr>
        <p:spPr>
          <a:xfrm xmlns:a="http://schemas.openxmlformats.org/drawingml/2006/main">
            <a:off x="666750" y="37147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4A37"/>
                </a:solidFill>
                <a:latin typeface="Helvetica Neue"/>
                <a:ea typeface="Helvetica Neue"/>
                <a:cs typeface="Helvetica Neue"/>
              </a:defRPr>
            </a:pPr>
            <a:r>
              <a:rPr sz="2400" b="1">
                <a:solidFill>
                  <a:srgbClr val="184A37"/>
                </a:solidFill>
                <a:latin typeface="Helvetica Neue"/>
                <a:ea typeface="Helvetica Neue"/>
                <a:cs typeface="Helvetica Neue"/>
              </a:rPr>
              <a:t>Before coverage reaches the required trade</a:t>
            </a:r>
          </a:p>
        </p:txBody>
      </p:sp>
      <p:sp>
        <p:nvSpPr>
          <p:cNvPr id="9" name="">
            <a:extLst xmlns:a="http://schemas.openxmlformats.org/drawingml/2006/main">
              <a:ext uri="{FF2B5EF4-FFF2-40B4-BE49-F238E27FC236}">
                <a16:creationId xmlns:a16="http://schemas.microsoft.com/office/drawing/2014/main" id="{ABA4430F-F643-48F6-8206-0DA21D9AA07D}"/>
              </a:ext>
            </a:extLst>
          </p:cNvPr>
          <p:cNvSpPr>
            <a:spLocks xmlns:a="http://schemas.openxmlformats.org/drawingml/2006/main" noGrp="1"/>
          </p:cNvSpPr>
          <p:nvPr/>
        </p:nvSpPr>
        <p:spPr>
          <a:xfrm xmlns:a="http://schemas.openxmlformats.org/drawingml/2006/main">
            <a:off x="666750" y="4333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4A37"/>
                </a:solidFill>
                <a:latin typeface="Helvetica Neue"/>
                <a:ea typeface="Helvetica Neue"/>
                <a:cs typeface="Helvetica Neue"/>
              </a:defRPr>
            </a:pPr>
            <a:r>
              <a:rPr sz="2250" b="0">
                <a:solidFill>
                  <a:srgbClr val="184A37"/>
                </a:solidFill>
                <a:latin typeface="Helvetica Neue"/>
                <a:ea typeface="Helvetica Neue"/>
                <a:cs typeface="Helvetica Neue"/>
              </a:rPr>
              <a:t>The affected round stays pending. The UI explains the delay.</a:t>
            </a:r>
          </a:p>
        </p:txBody>
      </p:sp>
      <p:sp>
        <p:nvSpPr>
          <p:cNvPr id="10" name="">
            <a:extLst xmlns:a="http://schemas.openxmlformats.org/drawingml/2006/main">
              <a:ext uri="{FF2B5EF4-FFF2-40B4-BE49-F238E27FC236}">
                <a16:creationId xmlns:a16="http://schemas.microsoft.com/office/drawing/2014/main" id="{7AE15060-A530-4339-8599-557D83A2406D}"/>
              </a:ext>
            </a:extLst>
          </p:cNvPr>
          <p:cNvSpPr>
            <a:spLocks xmlns:a="http://schemas.openxmlformats.org/drawingml/2006/main" noGrp="1"/>
          </p:cNvSpPr>
          <p:nvPr/>
        </p:nvSpPr>
        <p:spPr>
          <a:xfrm xmlns:a="http://schemas.openxmlformats.org/drawingml/2006/main">
            <a:off x="666750" y="52387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84A37"/>
                </a:solidFill>
                <a:latin typeface="Helvetica Neue"/>
                <a:ea typeface="Helvetica Neue"/>
                <a:cs typeface="Helvetica Neue"/>
              </a:defRPr>
            </a:pPr>
            <a:r>
              <a:rPr sz="2400" b="1">
                <a:solidFill>
                  <a:srgbClr val="184A37"/>
                </a:solidFill>
                <a:latin typeface="Helvetica Neue"/>
                <a:ea typeface="Helvetica Neue"/>
                <a:cs typeface="Helvetica Neue"/>
              </a:rPr>
              <a:t>If recovery cannot complete</a:t>
            </a:r>
          </a:p>
        </p:txBody>
      </p:sp>
      <p:sp>
        <p:nvSpPr>
          <p:cNvPr id="11" name="">
            <a:extLst xmlns:a="http://schemas.openxmlformats.org/drawingml/2006/main">
              <a:ext uri="{FF2B5EF4-FFF2-40B4-BE49-F238E27FC236}">
                <a16:creationId xmlns:a16="http://schemas.microsoft.com/office/drawing/2014/main" id="{E7718141-6954-4881-912D-E9FF490B560E}"/>
              </a:ext>
            </a:extLst>
          </p:cNvPr>
          <p:cNvSpPr>
            <a:spLocks xmlns:a="http://schemas.openxmlformats.org/drawingml/2006/main" noGrp="1"/>
          </p:cNvSpPr>
          <p:nvPr/>
        </p:nvSpPr>
        <p:spPr>
          <a:xfrm xmlns:a="http://schemas.openxmlformats.org/drawingml/2006/main">
            <a:off x="666750" y="5810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B655E"/>
                </a:solidFill>
                <a:latin typeface="Helvetica Neue"/>
                <a:ea typeface="Helvetica Neue"/>
                <a:cs typeface="Helvetica Neue"/>
              </a:defRPr>
            </a:pPr>
            <a:r>
              <a:rPr sz="2100" b="0">
                <a:solidFill>
                  <a:srgbClr val="5B655E"/>
                </a:solidFill>
                <a:latin typeface="Helvetica Neue"/>
                <a:ea typeface="Helvetica Neue"/>
                <a:cs typeface="Helvetica Neue"/>
              </a:rPr>
              <a:t>Keep evidence intact and expose the failure for operator action</a:t>
            </a:r>
          </a:p>
        </p:txBody>
      </p:sp>
    </p:spTree>
    <p:extLst>
      <p:ext uri="{BB962C8B-B14F-4D97-AF65-F5344CB8AC3E}">
        <p14:creationId xmlns:p14="http://schemas.microsoft.com/office/powerpoint/2010/main" val="699107538"/>
      </p:ext>
    </p:extLst>
  </p:cSld>
</p:sld>
</file>

<file path=ppt/slides/slide6.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8B17AD-5F93-4618-A6BF-C427F4BB2698}"/>
              </a:ext>
            </a:extLst>
          </p:cNvPr>
          <p:cNvSpPr>
            <a:spLocks xmlns:a="http://schemas.openxmlformats.org/drawingml/2006/main" noGrp="1"/>
          </p:cNvSpPr>
          <p:nvPr/>
        </p:nvSpPr>
        <p:spPr>
          <a:xfrm xmlns:a="http://schemas.openxmlformats.org/drawingml/2006/main">
            <a:off x="666750" y="428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4A37"/>
                </a:solidFill>
                <a:latin typeface="Helvetica Neue"/>
                <a:ea typeface="Helvetica Neue"/>
                <a:cs typeface="Helvetica Neue"/>
              </a:defRPr>
            </a:pPr>
            <a:r>
              <a:rPr sz="3450" b="1">
                <a:solidFill>
                  <a:srgbClr val="184A37"/>
                </a:solidFill>
                <a:latin typeface="Helvetica Neue"/>
                <a:ea typeface="Helvetica Neue"/>
                <a:cs typeface="Helvetica Neue"/>
              </a:rPr>
              <a:t>Three guarantees worth testing</a:t>
            </a:r>
          </a:p>
        </p:txBody>
      </p:sp>
      <p:sp>
        <p:nvSpPr>
          <p:cNvPr id="2" name="">
            <a:extLst xmlns:a="http://schemas.openxmlformats.org/drawingml/2006/main">
              <a:ext uri="{FF2B5EF4-FFF2-40B4-BE49-F238E27FC236}">
                <a16:creationId xmlns:a16="http://schemas.microsoft.com/office/drawing/2014/main" id="{E89A9BC7-E85B-4DE5-9600-E4C7F2DA01FE}"/>
              </a:ext>
            </a:extLst>
          </p:cNvPr>
          <p:cNvSpPr>
            <a:spLocks xmlns:a="http://schemas.openxmlformats.org/drawingml/2006/main" noGrp="1"/>
          </p:cNvSpPr>
          <p:nvPr/>
        </p:nvSpPr>
        <p:spPr>
          <a:xfrm xmlns:a="http://schemas.openxmlformats.org/drawingml/2006/main">
            <a:off x="11191875"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B655E"/>
                </a:solidFill>
                <a:latin typeface="Helvetica Neue"/>
                <a:ea typeface="Helvetica Neue"/>
                <a:cs typeface="Helvetica Neue"/>
              </a:defRPr>
            </a:pPr>
            <a:r>
              <a:rPr sz="1500" b="0">
                <a:solidFill>
                  <a:srgbClr val="5B655E"/>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B3DC3519-FF50-418D-8919-73AC3EDC0789}"/>
              </a:ext>
            </a:extLst>
          </p:cNvPr>
          <p:cNvSpPr>
            <a:spLocks xmlns:a="http://schemas.openxmlformats.org/drawingml/2006/main" noGrp="1"/>
          </p:cNvSpPr>
          <p:nvPr/>
        </p:nvSpPr>
        <p:spPr>
          <a:xfrm xmlns:a="http://schemas.openxmlformats.org/drawingml/2006/main">
            <a:off x="666750" y="1857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84A37"/>
                </a:solidFill>
                <a:latin typeface="Helvetica Neue"/>
                <a:ea typeface="Helvetica Neue"/>
                <a:cs typeface="Helvetica Neue"/>
              </a:defRPr>
            </a:pPr>
            <a:r>
              <a:rPr sz="2700" b="1">
                <a:solidFill>
                  <a:srgbClr val="184A37"/>
                </a:solidFill>
                <a:latin typeface="Helvetica Neue"/>
                <a:ea typeface="Helvetica Neue"/>
                <a:cs typeface="Helvetica Neue"/>
              </a:rPr>
              <a:t>01   One pending round per player</a:t>
            </a:r>
          </a:p>
        </p:txBody>
      </p:sp>
      <p:sp>
        <p:nvSpPr>
          <p:cNvPr id="4" name="">
            <a:extLst xmlns:a="http://schemas.openxmlformats.org/drawingml/2006/main">
              <a:ext uri="{FF2B5EF4-FFF2-40B4-BE49-F238E27FC236}">
                <a16:creationId xmlns:a16="http://schemas.microsoft.com/office/drawing/2014/main" id="{69CE5308-1F6B-4EF3-B86C-EBE6AA149E63}"/>
              </a:ext>
            </a:extLst>
          </p:cNvPr>
          <p:cNvSpPr>
            <a:spLocks xmlns:a="http://schemas.openxmlformats.org/drawingml/2006/main" noGrp="1"/>
          </p:cNvSpPr>
          <p:nvPr/>
        </p:nvSpPr>
        <p:spPr>
          <a:xfrm xmlns:a="http://schemas.openxmlformats.org/drawingml/2006/main">
            <a:off x="1333500" y="252412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4A37"/>
                </a:solidFill>
                <a:latin typeface="Helvetica Neue"/>
                <a:ea typeface="Helvetica Neue"/>
                <a:cs typeface="Helvetica Neue"/>
              </a:defRPr>
            </a:pPr>
            <a:r>
              <a:rPr sz="2100" b="0">
                <a:solidFill>
                  <a:srgbClr val="184A37"/>
                </a:solidFill>
                <a:latin typeface="Helvetica Neue"/>
                <a:ea typeface="Helvetica Neue"/>
                <a:cs typeface="Helvetica Neue"/>
              </a:rPr>
              <a:t>Two tabs and concurrent requests still produce one accepted round</a:t>
            </a:r>
          </a:p>
        </p:txBody>
      </p:sp>
      <p:sp>
        <p:nvSpPr>
          <p:cNvPr id="5" name="">
            <a:extLst xmlns:a="http://schemas.openxmlformats.org/drawingml/2006/main">
              <a:ext uri="{FF2B5EF4-FFF2-40B4-BE49-F238E27FC236}">
                <a16:creationId xmlns:a16="http://schemas.microsoft.com/office/drawing/2014/main" id="{9325E074-B554-4CD0-987E-2E63C12E2303}"/>
              </a:ext>
            </a:extLst>
          </p:cNvPr>
          <p:cNvSpPr>
            <a:spLocks xmlns:a="http://schemas.openxmlformats.org/drawingml/2006/main" noGrp="1"/>
          </p:cNvSpPr>
          <p:nvPr/>
        </p:nvSpPr>
        <p:spPr>
          <a:xfrm xmlns:a="http://schemas.openxmlformats.org/drawingml/2006/main">
            <a:off x="666750" y="3476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84A37"/>
                </a:solidFill>
                <a:latin typeface="Helvetica Neue"/>
                <a:ea typeface="Helvetica Neue"/>
                <a:cs typeface="Helvetica Neue"/>
              </a:defRPr>
            </a:pPr>
            <a:r>
              <a:rPr sz="2700" b="1">
                <a:solidFill>
                  <a:srgbClr val="184A37"/>
                </a:solidFill>
                <a:latin typeface="Helvetica Neue"/>
                <a:ea typeface="Helvetica Neue"/>
                <a:cs typeface="Helvetica Neue"/>
              </a:rPr>
              <a:t>02   One score change per resolved round</a:t>
            </a:r>
          </a:p>
        </p:txBody>
      </p:sp>
      <p:sp>
        <p:nvSpPr>
          <p:cNvPr id="6" name="">
            <a:extLst xmlns:a="http://schemas.openxmlformats.org/drawingml/2006/main">
              <a:ext uri="{FF2B5EF4-FFF2-40B4-BE49-F238E27FC236}">
                <a16:creationId xmlns:a16="http://schemas.microsoft.com/office/drawing/2014/main" id="{4DD75EBF-5DF1-47D1-8D15-49A6BEA486A9}"/>
              </a:ext>
            </a:extLst>
          </p:cNvPr>
          <p:cNvSpPr>
            <a:spLocks xmlns:a="http://schemas.openxmlformats.org/drawingml/2006/main" noGrp="1"/>
          </p:cNvSpPr>
          <p:nvPr/>
        </p:nvSpPr>
        <p:spPr>
          <a:xfrm xmlns:a="http://schemas.openxmlformats.org/drawingml/2006/main">
            <a:off x="1333500" y="414337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4A37"/>
                </a:solidFill>
                <a:latin typeface="Helvetica Neue"/>
                <a:ea typeface="Helvetica Neue"/>
                <a:cs typeface="Helvetica Neue"/>
              </a:defRPr>
            </a:pPr>
            <a:r>
              <a:rPr sz="2100" b="0">
                <a:solidFill>
                  <a:srgbClr val="184A37"/>
                </a:solidFill>
                <a:latin typeface="Helvetica Neue"/>
                <a:ea typeface="Helvetica Neue"/>
                <a:cs typeface="Helvetica Neue"/>
              </a:rPr>
              <a:t>Retries and crashes cannot separate the result from its score update</a:t>
            </a:r>
          </a:p>
        </p:txBody>
      </p:sp>
      <p:sp>
        <p:nvSpPr>
          <p:cNvPr id="7" name="">
            <a:extLst xmlns:a="http://schemas.openxmlformats.org/drawingml/2006/main">
              <a:ext uri="{FF2B5EF4-FFF2-40B4-BE49-F238E27FC236}">
                <a16:creationId xmlns:a16="http://schemas.microsoft.com/office/drawing/2014/main" id="{85E9D9CB-F90E-4120-B3CF-DE80A453BBAC}"/>
              </a:ext>
            </a:extLst>
          </p:cNvPr>
          <p:cNvSpPr>
            <a:spLocks xmlns:a="http://schemas.openxmlformats.org/drawingml/2006/main" noGrp="1"/>
          </p:cNvSpPr>
          <p:nvPr/>
        </p:nvSpPr>
        <p:spPr>
          <a:xfrm xmlns:a="http://schemas.openxmlformats.org/drawingml/2006/main">
            <a:off x="666750" y="5095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84A37"/>
                </a:solidFill>
                <a:latin typeface="Helvetica Neue"/>
                <a:ea typeface="Helvetica Neue"/>
                <a:cs typeface="Helvetica Neue"/>
              </a:defRPr>
            </a:pPr>
            <a:r>
              <a:rPr sz="2700" b="1">
                <a:solidFill>
                  <a:srgbClr val="184A37"/>
                </a:solidFill>
                <a:latin typeface="Helvetica Neue"/>
                <a:ea typeface="Helvetica Neue"/>
                <a:cs typeface="Helvetica Neue"/>
              </a:rPr>
              <a:t>03   Verified history decides the result</a:t>
            </a:r>
          </a:p>
        </p:txBody>
      </p:sp>
      <p:sp>
        <p:nvSpPr>
          <p:cNvPr id="8" name="">
            <a:extLst xmlns:a="http://schemas.openxmlformats.org/drawingml/2006/main">
              <a:ext uri="{FF2B5EF4-FFF2-40B4-BE49-F238E27FC236}">
                <a16:creationId xmlns:a16="http://schemas.microsoft.com/office/drawing/2014/main" id="{F2239DE2-F0A3-4FB9-B54E-E613B4B9A086}"/>
              </a:ext>
            </a:extLst>
          </p:cNvPr>
          <p:cNvSpPr>
            <a:spLocks xmlns:a="http://schemas.openxmlformats.org/drawingml/2006/main" noGrp="1"/>
          </p:cNvSpPr>
          <p:nvPr/>
        </p:nvSpPr>
        <p:spPr>
          <a:xfrm xmlns:a="http://schemas.openxmlformats.org/drawingml/2006/main">
            <a:off x="1333500" y="5762625"/>
            <a:ext cx="1009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4A37"/>
                </a:solidFill>
                <a:latin typeface="Helvetica Neue"/>
                <a:ea typeface="Helvetica Neue"/>
                <a:cs typeface="Helvetica Neue"/>
              </a:defRPr>
            </a:pPr>
            <a:r>
              <a:rPr sz="2100" b="0">
                <a:solidFill>
                  <a:srgbClr val="184A37"/>
                </a:solidFill>
                <a:latin typeface="Helvetica Neue"/>
                <a:ea typeface="Helvetica Neue"/>
                <a:cs typeface="Helvetica Neue"/>
              </a:rPr>
              <a:t>Dropped events and recovery must match uninterrupted ingestion</a:t>
            </a:r>
          </a:p>
        </p:txBody>
      </p:sp>
    </p:spTree>
    <p:extLst>
      <p:ext uri="{BB962C8B-B14F-4D97-AF65-F5344CB8AC3E}">
        <p14:creationId xmlns:p14="http://schemas.microsoft.com/office/powerpoint/2010/main" val="2095795512"/>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755E7E-0441-4446-AEA4-EBECE54ABFBB}"/>
              </a:ext>
            </a:extLst>
          </p:cNvPr>
          <p:cNvSpPr>
            <a:spLocks xmlns:a="http://schemas.openxmlformats.org/drawingml/2006/main" noGrp="1"/>
          </p:cNvSpPr>
          <p:nvPr/>
        </p:nvSpPr>
        <p:spPr>
          <a:xfrm xmlns:a="http://schemas.openxmlformats.org/drawingml/2006/main">
            <a:off x="666750" y="428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4A37"/>
                </a:solidFill>
                <a:latin typeface="Helvetica Neue"/>
                <a:ea typeface="Helvetica Neue"/>
                <a:cs typeface="Helvetica Neue"/>
              </a:defRPr>
            </a:pPr>
            <a:r>
              <a:rPr sz="3450" b="1">
                <a:solidFill>
                  <a:srgbClr val="184A37"/>
                </a:solidFill>
                <a:latin typeface="Helvetica Neue"/>
                <a:ea typeface="Helvetica Neue"/>
                <a:cs typeface="Helvetica Neue"/>
              </a:rPr>
              <a:t>Tradeoffs and next priorities</a:t>
            </a:r>
          </a:p>
        </p:txBody>
      </p:sp>
      <p:sp>
        <p:nvSpPr>
          <p:cNvPr id="2" name="">
            <a:extLst xmlns:a="http://schemas.openxmlformats.org/drawingml/2006/main">
              <a:ext uri="{FF2B5EF4-FFF2-40B4-BE49-F238E27FC236}">
                <a16:creationId xmlns:a16="http://schemas.microsoft.com/office/drawing/2014/main" id="{B289942D-A76B-44CF-B7D6-CA8BE02C1EB8}"/>
              </a:ext>
            </a:extLst>
          </p:cNvPr>
          <p:cNvSpPr>
            <a:spLocks xmlns:a="http://schemas.openxmlformats.org/drawingml/2006/main" noGrp="1"/>
          </p:cNvSpPr>
          <p:nvPr/>
        </p:nvSpPr>
        <p:spPr>
          <a:xfrm xmlns:a="http://schemas.openxmlformats.org/drawingml/2006/main">
            <a:off x="11191875"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B655E"/>
                </a:solidFill>
                <a:latin typeface="Helvetica Neue"/>
                <a:ea typeface="Helvetica Neue"/>
                <a:cs typeface="Helvetica Neue"/>
              </a:defRPr>
            </a:pPr>
            <a:r>
              <a:rPr sz="1500" b="0">
                <a:solidFill>
                  <a:srgbClr val="5B655E"/>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2CF2D78F-64A5-428D-9441-C101DDFFFE2B}"/>
              </a:ext>
            </a:extLst>
          </p:cNvPr>
          <p:cNvSpPr>
            <a:spLocks xmlns:a="http://schemas.openxmlformats.org/drawingml/2006/main" noGrp="1"/>
          </p:cNvSpPr>
          <p:nvPr/>
        </p:nvSpPr>
        <p:spPr>
          <a:xfrm xmlns:a="http://schemas.openxmlformats.org/drawingml/2006/main">
            <a:off x="666750" y="17621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4A37"/>
                </a:solidFill>
                <a:latin typeface="Helvetica Neue"/>
                <a:ea typeface="Helvetica Neue"/>
                <a:cs typeface="Helvetica Neue"/>
              </a:defRPr>
            </a:pPr>
            <a:r>
              <a:rPr sz="2550" b="1">
                <a:solidFill>
                  <a:srgbClr val="184A37"/>
                </a:solidFill>
                <a:latin typeface="Helvetica Neue"/>
                <a:ea typeface="Helvetica Neue"/>
                <a:cs typeface="Helvetica Neue"/>
              </a:rPr>
              <a:t>Decisions today</a:t>
            </a:r>
          </a:p>
        </p:txBody>
      </p:sp>
      <p:sp>
        <p:nvSpPr>
          <p:cNvPr id="4" name="">
            <a:extLst xmlns:a="http://schemas.openxmlformats.org/drawingml/2006/main">
              <a:ext uri="{FF2B5EF4-FFF2-40B4-BE49-F238E27FC236}">
                <a16:creationId xmlns:a16="http://schemas.microsoft.com/office/drawing/2014/main" id="{12448132-5CC6-4DC6-816C-BBDC48D979DD}"/>
              </a:ext>
            </a:extLst>
          </p:cNvPr>
          <p:cNvSpPr>
            <a:spLocks xmlns:a="http://schemas.openxmlformats.org/drawingml/2006/main" noGrp="1"/>
          </p:cNvSpPr>
          <p:nvPr/>
        </p:nvSpPr>
        <p:spPr>
          <a:xfrm xmlns:a="http://schemas.openxmlformats.org/drawingml/2006/main">
            <a:off x="666750" y="252412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4A37"/>
                </a:solidFill>
                <a:latin typeface="Helvetica Neue"/>
                <a:ea typeface="Helvetica Neue"/>
                <a:cs typeface="Helvetica Neue"/>
              </a:defRPr>
            </a:pPr>
            <a:r>
              <a:rPr sz="2175" b="0">
                <a:solidFill>
                  <a:srgbClr val="184A37"/>
                </a:solidFill>
                <a:latin typeface="Helvetica Neue"/>
                <a:ea typeface="Helvetica Neue"/>
                <a:cs typeface="Helvetica Neue"/>
              </a:rPr>
              <a:t>Anonymous browser identity</a:t>
            </a:r>
          </a:p>
          <a:p xmlns:a="http://schemas.openxmlformats.org/drawingml/2006/main">
            <a:pPr>
              <a:defRPr sz="2175" b="0">
                <a:solidFill>
                  <a:srgbClr val="184A37"/>
                </a:solidFill>
                <a:latin typeface="Helvetica Neue"/>
                <a:ea typeface="Helvetica Neue"/>
                <a:cs typeface="Helvetica Neue"/>
              </a:defRPr>
            </a:pPr>
            <a:r>
              <a:rPr sz="2175" b="0">
                <a:solidFill>
                  <a:srgbClr val="184A37"/>
                </a:solidFill>
                <a:latin typeface="Helvetica Neue"/>
                <a:ea typeface="Helvetica Neue"/>
                <a:cs typeface="Helvetica Neue"/>
              </a:rPr>
              <a:t>Private round history</a:t>
            </a:r>
          </a:p>
          <a:p xmlns:a="http://schemas.openxmlformats.org/drawingml/2006/main">
            <a:pPr>
              <a:defRPr sz="2175" b="0">
                <a:solidFill>
                  <a:srgbClr val="184A37"/>
                </a:solidFill>
                <a:latin typeface="Helvetica Neue"/>
                <a:ea typeface="Helvetica Neue"/>
                <a:cs typeface="Helvetica Neue"/>
              </a:defRPr>
            </a:pPr>
            <a:r>
              <a:rPr sz="2175" b="0">
                <a:solidFill>
                  <a:srgbClr val="184A37"/>
                </a:solidFill>
                <a:latin typeface="Helvetica Neue"/>
                <a:ea typeface="Helvetica Neue"/>
                <a:cs typeface="Helvetica Neue"/>
              </a:rPr>
              <a:t>REST verification of advancing intervals</a:t>
            </a:r>
          </a:p>
        </p:txBody>
      </p:sp>
      <p:sp>
        <p:nvSpPr>
          <p:cNvPr id="5" name="">
            <a:extLst xmlns:a="http://schemas.openxmlformats.org/drawingml/2006/main">
              <a:ext uri="{FF2B5EF4-FFF2-40B4-BE49-F238E27FC236}">
                <a16:creationId xmlns:a16="http://schemas.microsoft.com/office/drawing/2014/main" id="{04556C1F-95A9-4D88-A6F6-326DFE840667}"/>
              </a:ext>
            </a:extLst>
          </p:cNvPr>
          <p:cNvSpPr>
            <a:spLocks xmlns:a="http://schemas.openxmlformats.org/drawingml/2006/main" noGrp="1"/>
          </p:cNvSpPr>
          <p:nvPr/>
        </p:nvSpPr>
        <p:spPr>
          <a:xfrm xmlns:a="http://schemas.openxmlformats.org/drawingml/2006/main">
            <a:off x="6572250" y="17621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4A37"/>
                </a:solidFill>
                <a:latin typeface="Helvetica Neue"/>
                <a:ea typeface="Helvetica Neue"/>
                <a:cs typeface="Helvetica Neue"/>
              </a:defRPr>
            </a:pPr>
            <a:r>
              <a:rPr sz="2550" b="1">
                <a:solidFill>
                  <a:srgbClr val="184A37"/>
                </a:solidFill>
                <a:latin typeface="Helvetica Neue"/>
                <a:ea typeface="Helvetica Neue"/>
                <a:cs typeface="Helvetica Neue"/>
              </a:rPr>
              <a:t>Work before public hosting</a:t>
            </a:r>
          </a:p>
        </p:txBody>
      </p:sp>
      <p:sp>
        <p:nvSpPr>
          <p:cNvPr id="6" name="">
            <a:extLst xmlns:a="http://schemas.openxmlformats.org/drawingml/2006/main">
              <a:ext uri="{FF2B5EF4-FFF2-40B4-BE49-F238E27FC236}">
                <a16:creationId xmlns:a16="http://schemas.microsoft.com/office/drawing/2014/main" id="{3C81FEB6-1565-4CB3-86A3-2AA80618A109}"/>
              </a:ext>
            </a:extLst>
          </p:cNvPr>
          <p:cNvSpPr>
            <a:spLocks xmlns:a="http://schemas.openxmlformats.org/drawingml/2006/main" noGrp="1"/>
          </p:cNvSpPr>
          <p:nvPr/>
        </p:nvSpPr>
        <p:spPr>
          <a:xfrm xmlns:a="http://schemas.openxmlformats.org/drawingml/2006/main">
            <a:off x="6572250" y="252412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4A37"/>
                </a:solidFill>
                <a:latin typeface="Helvetica Neue"/>
                <a:ea typeface="Helvetica Neue"/>
                <a:cs typeface="Helvetica Neue"/>
              </a:defRPr>
            </a:pPr>
            <a:r>
              <a:rPr sz="2175" b="0">
                <a:solidFill>
                  <a:srgbClr val="184A37"/>
                </a:solidFill>
                <a:latin typeface="Helvetica Neue"/>
                <a:ea typeface="Helvetica Neue"/>
                <a:cs typeface="Helvetica Neue"/>
              </a:rPr>
              <a:t>Explicit proxy trust and startup checks</a:t>
            </a:r>
          </a:p>
          <a:p xmlns:a="http://schemas.openxmlformats.org/drawingml/2006/main">
            <a:pPr>
              <a:defRPr sz="2175" b="0">
                <a:solidFill>
                  <a:srgbClr val="184A37"/>
                </a:solidFill>
                <a:latin typeface="Helvetica Neue"/>
                <a:ea typeface="Helvetica Neue"/>
                <a:cs typeface="Helvetica Neue"/>
              </a:defRPr>
            </a:pPr>
            <a:r>
              <a:rPr sz="2175" b="0">
                <a:solidFill>
                  <a:srgbClr val="184A37"/>
                </a:solidFill>
                <a:latin typeface="Helvetica Neue"/>
                <a:ea typeface="Helvetica Neue"/>
                <a:cs typeface="Helvetica Neue"/>
              </a:rPr>
              <a:t>Shared abuse controls</a:t>
            </a:r>
          </a:p>
          <a:p xmlns:a="http://schemas.openxmlformats.org/drawingml/2006/main">
            <a:pPr>
              <a:defRPr sz="2175" b="0">
                <a:solidFill>
                  <a:srgbClr val="184A37"/>
                </a:solidFill>
                <a:latin typeface="Helvetica Neue"/>
                <a:ea typeface="Helvetica Neue"/>
                <a:cs typeface="Helvetica Neue"/>
              </a:defRPr>
            </a:pPr>
            <a:r>
              <a:rPr sz="2175" b="0">
                <a:solidFill>
                  <a:srgbClr val="184A37"/>
                </a:solidFill>
                <a:latin typeface="Helvetica Neue"/>
                <a:ea typeface="Helvetica Neue"/>
                <a:cs typeface="Helvetica Neue"/>
              </a:rPr>
              <a:t>Separate runtime database privileges</a:t>
            </a:r>
          </a:p>
        </p:txBody>
      </p:sp>
      <p:sp>
        <p:nvSpPr>
          <p:cNvPr id="7" name="">
            <a:extLst xmlns:a="http://schemas.openxmlformats.org/drawingml/2006/main">
              <a:ext uri="{FF2B5EF4-FFF2-40B4-BE49-F238E27FC236}">
                <a16:creationId xmlns:a16="http://schemas.microsoft.com/office/drawing/2014/main" id="{1BC18B56-2117-47C5-9D87-D58C3F00E1B5}"/>
              </a:ext>
            </a:extLst>
          </p:cNvPr>
          <p:cNvSpPr>
            <a:spLocks xmlns:a="http://schemas.openxmlformats.org/drawingml/2006/main" noGrp="1"/>
          </p:cNvSpPr>
          <p:nvPr/>
        </p:nvSpPr>
        <p:spPr>
          <a:xfrm xmlns:a="http://schemas.openxmlformats.org/drawingml/2006/main">
            <a:off x="666750" y="523875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4A37"/>
                </a:solidFill>
                <a:latin typeface="Helvetica Neue"/>
                <a:ea typeface="Helvetica Neue"/>
                <a:cs typeface="Helvetica Neue"/>
              </a:defRPr>
            </a:pPr>
            <a:r>
              <a:rPr sz="2250" b="0">
                <a:solidFill>
                  <a:srgbClr val="184A37"/>
                </a:solidFill>
                <a:latin typeface="Helvetica Neue"/>
                <a:ea typeface="Helvetica Neue"/>
                <a:cs typeface="Helvetica Neue"/>
              </a:rPr>
              <a:t>Longer operation needs a retention policy and measured verification lag</a:t>
            </a:r>
          </a:p>
        </p:txBody>
      </p:sp>
      <p:sp>
        <p:nvSpPr>
          <p:cNvPr id="8" name="">
            <a:extLst xmlns:a="http://schemas.openxmlformats.org/drawingml/2006/main">
              <a:ext uri="{FF2B5EF4-FFF2-40B4-BE49-F238E27FC236}">
                <a16:creationId xmlns:a16="http://schemas.microsoft.com/office/drawing/2014/main" id="{791ADFE2-8938-4114-B28B-CE1CD22B1035}"/>
              </a:ext>
            </a:extLst>
          </p:cNvPr>
          <p:cNvSpPr>
            <a:spLocks xmlns:a="http://schemas.openxmlformats.org/drawingml/2006/main" noGrp="1"/>
          </p:cNvSpPr>
          <p:nvPr/>
        </p:nvSpPr>
        <p:spPr>
          <a:xfrm xmlns:a="http://schemas.openxmlformats.org/drawingml/2006/main">
            <a:off x="666750" y="60483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B655E"/>
                </a:solidFill>
                <a:latin typeface="Helvetica Neue"/>
                <a:ea typeface="Helvetica Neue"/>
                <a:cs typeface="Helvetica Neue"/>
              </a:defRPr>
            </a:pPr>
            <a:r>
              <a:rPr sz="1800" b="0">
                <a:solidFill>
                  <a:srgbClr val="5B655E"/>
                </a:solidFill>
                <a:latin typeface="Helvetica Neue"/>
                <a:ea typeface="Helvetica Neue"/>
                <a:cs typeface="Helvetica Neue"/>
              </a:rPr>
              <a:t>AWS infrastructure is prepared separately and remains undeployed</a:t>
            </a:r>
          </a:p>
        </p:txBody>
      </p:sp>
    </p:spTree>
    <p:extLst>
      <p:ext uri="{BB962C8B-B14F-4D97-AF65-F5344CB8AC3E}">
        <p14:creationId xmlns:p14="http://schemas.microsoft.com/office/powerpoint/2010/main" val="338452354"/>
      </p:ext>
    </p:extLst>
  </p:cSld>
</p:sld>
</file>

<file path=ppt/slides/slide8.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CD32A6-CB4B-42A0-85C5-600D5046B9D2}"/>
              </a:ext>
            </a:extLst>
          </p:cNvPr>
          <p:cNvSpPr>
            <a:spLocks xmlns:a="http://schemas.openxmlformats.org/drawingml/2006/main" noGrp="1"/>
          </p:cNvSpPr>
          <p:nvPr/>
        </p:nvSpPr>
        <p:spPr>
          <a:xfrm xmlns:a="http://schemas.openxmlformats.org/drawingml/2006/main">
            <a:off x="666750" y="428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4A37"/>
                </a:solidFill>
                <a:latin typeface="Helvetica Neue"/>
                <a:ea typeface="Helvetica Neue"/>
                <a:cs typeface="Helvetica Neue"/>
              </a:defRPr>
            </a:pPr>
            <a:r>
              <a:rPr sz="3450" b="1">
                <a:solidFill>
                  <a:srgbClr val="184A37"/>
                </a:solidFill>
                <a:latin typeface="Helvetica Neue"/>
                <a:ea typeface="Helvetica Neue"/>
                <a:cs typeface="Helvetica Neue"/>
              </a:rPr>
              <a:t>First contributions</a:t>
            </a:r>
          </a:p>
        </p:txBody>
      </p:sp>
      <p:sp>
        <p:nvSpPr>
          <p:cNvPr id="2" name="">
            <a:extLst xmlns:a="http://schemas.openxmlformats.org/drawingml/2006/main">
              <a:ext uri="{FF2B5EF4-FFF2-40B4-BE49-F238E27FC236}">
                <a16:creationId xmlns:a16="http://schemas.microsoft.com/office/drawing/2014/main" id="{AAC79765-30A7-46D0-81D3-C264AFB82661}"/>
              </a:ext>
            </a:extLst>
          </p:cNvPr>
          <p:cNvSpPr>
            <a:spLocks xmlns:a="http://schemas.openxmlformats.org/drawingml/2006/main" noGrp="1"/>
          </p:cNvSpPr>
          <p:nvPr/>
        </p:nvSpPr>
        <p:spPr>
          <a:xfrm xmlns:a="http://schemas.openxmlformats.org/drawingml/2006/main">
            <a:off x="11191875" y="6238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B655E"/>
                </a:solidFill>
                <a:latin typeface="Helvetica Neue"/>
                <a:ea typeface="Helvetica Neue"/>
                <a:cs typeface="Helvetica Neue"/>
              </a:defRPr>
            </a:pPr>
            <a:r>
              <a:rPr sz="1500" b="0">
                <a:solidFill>
                  <a:srgbClr val="5B655E"/>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E889DF88-1E94-4469-BC6A-60984E4F6514}"/>
              </a:ext>
            </a:extLst>
          </p:cNvPr>
          <p:cNvSpPr>
            <a:spLocks xmlns:a="http://schemas.openxmlformats.org/drawingml/2006/main" noGrp="1"/>
          </p:cNvSpPr>
          <p:nvPr/>
        </p:nvSpPr>
        <p:spPr>
          <a:xfrm xmlns:a="http://schemas.openxmlformats.org/drawingml/2006/main">
            <a:off x="666750" y="17621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4A37"/>
                </a:solidFill>
                <a:latin typeface="Helvetica Neue"/>
                <a:ea typeface="Helvetica Neue"/>
                <a:cs typeface="Helvetica Neue"/>
              </a:defRPr>
            </a:pPr>
            <a:r>
              <a:rPr sz="2550" b="1">
                <a:solidFill>
                  <a:srgbClr val="184A37"/>
                </a:solidFill>
                <a:latin typeface="Helvetica Neue"/>
                <a:ea typeface="Helvetica Neue"/>
                <a:cs typeface="Helvetica Neue"/>
              </a:rPr>
              <a:t>Engineer A</a:t>
            </a:r>
          </a:p>
        </p:txBody>
      </p:sp>
      <p:sp>
        <p:nvSpPr>
          <p:cNvPr id="4" name="">
            <a:extLst xmlns:a="http://schemas.openxmlformats.org/drawingml/2006/main">
              <a:ext uri="{FF2B5EF4-FFF2-40B4-BE49-F238E27FC236}">
                <a16:creationId xmlns:a16="http://schemas.microsoft.com/office/drawing/2014/main" id="{D9CA25D5-A23E-4BBD-A92F-A3E5D4B26176}"/>
              </a:ext>
            </a:extLst>
          </p:cNvPr>
          <p:cNvSpPr>
            <a:spLocks xmlns:a="http://schemas.openxmlformats.org/drawingml/2006/main" noGrp="1"/>
          </p:cNvSpPr>
          <p:nvPr/>
        </p:nvSpPr>
        <p:spPr>
          <a:xfrm xmlns:a="http://schemas.openxmlformats.org/drawingml/2006/main">
            <a:off x="666750" y="2571750"/>
            <a:ext cx="4905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4A37"/>
                </a:solidFill>
                <a:latin typeface="Helvetica Neue"/>
                <a:ea typeface="Helvetica Neue"/>
                <a:cs typeface="Helvetica Neue"/>
              </a:defRPr>
            </a:pPr>
            <a:r>
              <a:rPr sz="2550" b="0">
                <a:solidFill>
                  <a:srgbClr val="184A37"/>
                </a:solidFill>
                <a:latin typeface="Helvetica Neue"/>
                <a:ea typeface="Helvetica Neue"/>
                <a:cs typeface="Helvetica Neue"/>
              </a:rPr>
              <a:t>Keep loaded round history when</a:t>
            </a:r>
          </a:p>
          <a:p xmlns:a="http://schemas.openxmlformats.org/drawingml/2006/main">
            <a:pPr>
              <a:defRPr sz="2550" b="0">
                <a:solidFill>
                  <a:srgbClr val="184A37"/>
                </a:solidFill>
                <a:latin typeface="Helvetica Neue"/>
                <a:ea typeface="Helvetica Neue"/>
                <a:cs typeface="Helvetica Neue"/>
              </a:defRPr>
            </a:pPr>
            <a:r>
              <a:rPr sz="2550" b="0">
                <a:solidFill>
                  <a:srgbClr val="184A37"/>
                </a:solidFill>
                <a:latin typeface="Helvetica Neue"/>
                <a:ea typeface="Helvetica Neue"/>
                <a:cs typeface="Helvetica Neue"/>
              </a:rPr>
              <a:t>a new result arrives</a:t>
            </a:r>
          </a:p>
        </p:txBody>
      </p:sp>
      <p:sp>
        <p:nvSpPr>
          <p:cNvPr id="5" name="">
            <a:extLst xmlns:a="http://schemas.openxmlformats.org/drawingml/2006/main">
              <a:ext uri="{FF2B5EF4-FFF2-40B4-BE49-F238E27FC236}">
                <a16:creationId xmlns:a16="http://schemas.microsoft.com/office/drawing/2014/main" id="{206787FB-A022-46B8-8C8C-C10AB8844732}"/>
              </a:ext>
            </a:extLst>
          </p:cNvPr>
          <p:cNvSpPr>
            <a:spLocks xmlns:a="http://schemas.openxmlformats.org/drawingml/2006/main" noGrp="1"/>
          </p:cNvSpPr>
          <p:nvPr/>
        </p:nvSpPr>
        <p:spPr>
          <a:xfrm xmlns:a="http://schemas.openxmlformats.org/drawingml/2006/main">
            <a:off x="666750" y="438150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B655E"/>
                </a:solidFill>
                <a:latin typeface="Helvetica Neue"/>
                <a:ea typeface="Helvetica Neue"/>
                <a:cs typeface="Helvetica Neue"/>
              </a:defRPr>
            </a:pPr>
            <a:r>
              <a:rPr sz="2025" b="0">
                <a:solidFill>
                  <a:srgbClr val="5B655E"/>
                </a:solidFill>
                <a:latin typeface="Helvetica Neue"/>
                <a:ea typeface="Helvetica Neue"/>
                <a:cs typeface="Helvetica Neue"/>
              </a:rPr>
              <a:t>No duplicates. Older rounds remain visible.</a:t>
            </a:r>
          </a:p>
          <a:p xmlns:a="http://schemas.openxmlformats.org/drawingml/2006/main">
            <a:pPr>
              <a:defRPr sz="2025" b="0">
                <a:solidFill>
                  <a:srgbClr val="5B655E"/>
                </a:solidFill>
                <a:latin typeface="Helvetica Neue"/>
                <a:ea typeface="Helvetica Neue"/>
                <a:cs typeface="Helvetica Neue"/>
              </a:defRPr>
            </a:pPr>
            <a:r>
              <a:rPr sz="2025" b="0">
                <a:solidFill>
                  <a:srgbClr val="5B655E"/>
                </a:solidFill>
                <a:latin typeface="Helvetica Neue"/>
                <a:ea typeface="Helvetica Neue"/>
                <a:cs typeface="Helvetica Neue"/>
              </a:rPr>
              <a:t>Retry preserves known results.</a:t>
            </a:r>
          </a:p>
        </p:txBody>
      </p:sp>
      <p:sp>
        <p:nvSpPr>
          <p:cNvPr id="6" name="">
            <a:extLst xmlns:a="http://schemas.openxmlformats.org/drawingml/2006/main">
              <a:ext uri="{FF2B5EF4-FFF2-40B4-BE49-F238E27FC236}">
                <a16:creationId xmlns:a16="http://schemas.microsoft.com/office/drawing/2014/main" id="{2F3243CC-BDA9-447A-80B2-46D1AA069771}"/>
              </a:ext>
            </a:extLst>
          </p:cNvPr>
          <p:cNvSpPr>
            <a:spLocks xmlns:a="http://schemas.openxmlformats.org/drawingml/2006/main" noGrp="1"/>
          </p:cNvSpPr>
          <p:nvPr/>
        </p:nvSpPr>
        <p:spPr>
          <a:xfrm xmlns:a="http://schemas.openxmlformats.org/drawingml/2006/main">
            <a:off x="6572250" y="176212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4A37"/>
                </a:solidFill>
                <a:latin typeface="Helvetica Neue"/>
                <a:ea typeface="Helvetica Neue"/>
                <a:cs typeface="Helvetica Neue"/>
              </a:defRPr>
            </a:pPr>
            <a:r>
              <a:rPr sz="2550" b="1">
                <a:solidFill>
                  <a:srgbClr val="184A37"/>
                </a:solidFill>
                <a:latin typeface="Helvetica Neue"/>
                <a:ea typeface="Helvetica Neue"/>
                <a:cs typeface="Helvetica Neue"/>
              </a:rPr>
              <a:t>Engineer B</a:t>
            </a:r>
          </a:p>
        </p:txBody>
      </p:sp>
      <p:sp>
        <p:nvSpPr>
          <p:cNvPr id="7" name="">
            <a:extLst xmlns:a="http://schemas.openxmlformats.org/drawingml/2006/main">
              <a:ext uri="{FF2B5EF4-FFF2-40B4-BE49-F238E27FC236}">
                <a16:creationId xmlns:a16="http://schemas.microsoft.com/office/drawing/2014/main" id="{628D94FE-6F42-4177-81BD-D29FA35296E9}"/>
              </a:ext>
            </a:extLst>
          </p:cNvPr>
          <p:cNvSpPr>
            <a:spLocks xmlns:a="http://schemas.openxmlformats.org/drawingml/2006/main" noGrp="1"/>
          </p:cNvSpPr>
          <p:nvPr/>
        </p:nvSpPr>
        <p:spPr>
          <a:xfrm xmlns:a="http://schemas.openxmlformats.org/drawingml/2006/main">
            <a:off x="6572250" y="2571750"/>
            <a:ext cx="4905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4A37"/>
                </a:solidFill>
                <a:latin typeface="Helvetica Neue"/>
                <a:ea typeface="Helvetica Neue"/>
                <a:cs typeface="Helvetica Neue"/>
              </a:defRPr>
            </a:pPr>
            <a:r>
              <a:rPr sz="2550" b="0">
                <a:solidFill>
                  <a:srgbClr val="184A37"/>
                </a:solidFill>
                <a:latin typeface="Helvetica Neue"/>
                <a:ea typeface="Helvetica Neue"/>
                <a:cs typeface="Helvetica Neue"/>
              </a:rPr>
              <a:t>Tighten proxy trust and validate</a:t>
            </a:r>
          </a:p>
          <a:p xmlns:a="http://schemas.openxmlformats.org/drawingml/2006/main">
            <a:pPr>
              <a:defRPr sz="2550" b="0">
                <a:solidFill>
                  <a:srgbClr val="184A37"/>
                </a:solidFill>
                <a:latin typeface="Helvetica Neue"/>
                <a:ea typeface="Helvetica Neue"/>
                <a:cs typeface="Helvetica Neue"/>
              </a:defRPr>
            </a:pPr>
            <a:r>
              <a:rPr sz="2550" b="0">
                <a:solidFill>
                  <a:srgbClr val="184A37"/>
                </a:solidFill>
                <a:latin typeface="Helvetica Neue"/>
                <a:ea typeface="Helvetica Neue"/>
                <a:cs typeface="Helvetica Neue"/>
              </a:rPr>
              <a:t>production security settings</a:t>
            </a:r>
          </a:p>
        </p:txBody>
      </p:sp>
      <p:sp>
        <p:nvSpPr>
          <p:cNvPr id="8" name="">
            <a:extLst xmlns:a="http://schemas.openxmlformats.org/drawingml/2006/main">
              <a:ext uri="{FF2B5EF4-FFF2-40B4-BE49-F238E27FC236}">
                <a16:creationId xmlns:a16="http://schemas.microsoft.com/office/drawing/2014/main" id="{72FC34FC-A2C3-4473-8604-EE29FCEB4627}"/>
              </a:ext>
            </a:extLst>
          </p:cNvPr>
          <p:cNvSpPr>
            <a:spLocks xmlns:a="http://schemas.openxmlformats.org/drawingml/2006/main" noGrp="1"/>
          </p:cNvSpPr>
          <p:nvPr/>
        </p:nvSpPr>
        <p:spPr>
          <a:xfrm xmlns:a="http://schemas.openxmlformats.org/drawingml/2006/main">
            <a:off x="6572250" y="438150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B655E"/>
                </a:solidFill>
                <a:latin typeface="Helvetica Neue"/>
                <a:ea typeface="Helvetica Neue"/>
                <a:cs typeface="Helvetica Neue"/>
              </a:defRPr>
            </a:pPr>
            <a:r>
              <a:rPr sz="2025" b="0">
                <a:solidFill>
                  <a:srgbClr val="5B655E"/>
                </a:solidFill>
                <a:latin typeface="Helvetica Neue"/>
                <a:ea typeface="Helvetica Neue"/>
                <a:cs typeface="Helvetica Neue"/>
              </a:rPr>
              <a:t>Forwarded headers follow the configured</a:t>
            </a:r>
          </a:p>
          <a:p xmlns:a="http://schemas.openxmlformats.org/drawingml/2006/main">
            <a:pPr>
              <a:defRPr sz="2025" b="0">
                <a:solidFill>
                  <a:srgbClr val="5B655E"/>
                </a:solidFill>
                <a:latin typeface="Helvetica Neue"/>
                <a:ea typeface="Helvetica Neue"/>
                <a:cs typeface="Helvetica Neue"/>
              </a:defRPr>
            </a:pPr>
            <a:r>
              <a:rPr sz="2025" b="0">
                <a:solidFill>
                  <a:srgbClr val="5B655E"/>
                </a:solidFill>
                <a:latin typeface="Helvetica Neue"/>
                <a:ea typeface="Helvetica Neue"/>
                <a:cs typeface="Helvetica Neue"/>
              </a:rPr>
              <a:t>trust policy. Local development still works.</a:t>
            </a:r>
          </a:p>
        </p:txBody>
      </p:sp>
      <p:sp>
        <p:nvSpPr>
          <p:cNvPr id="9" name="">
            <a:extLst xmlns:a="http://schemas.openxmlformats.org/drawingml/2006/main">
              <a:ext uri="{FF2B5EF4-FFF2-40B4-BE49-F238E27FC236}">
                <a16:creationId xmlns:a16="http://schemas.microsoft.com/office/drawing/2014/main" id="{8C36D8AB-0FEB-47BD-A3F5-6369267A77FB}"/>
              </a:ext>
            </a:extLst>
          </p:cNvPr>
          <p:cNvSpPr>
            <a:spLocks xmlns:a="http://schemas.openxmlformats.org/drawingml/2006/main" noGrp="1"/>
          </p:cNvSpPr>
          <p:nvPr/>
        </p:nvSpPr>
        <p:spPr>
          <a:xfrm xmlns:a="http://schemas.openxmlformats.org/drawingml/2006/main">
            <a:off x="666750" y="590550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4A37"/>
                </a:solidFill>
                <a:latin typeface="Helvetica Neue"/>
                <a:ea typeface="Helvetica Neue"/>
                <a:cs typeface="Helvetica Neue"/>
              </a:defRPr>
            </a:pPr>
            <a:r>
              <a:rPr sz="2100" b="0">
                <a:solidFill>
                  <a:srgbClr val="184A37"/>
                </a:solidFill>
                <a:latin typeface="Helvetica Neue"/>
                <a:ea typeface="Helvetica Neue"/>
                <a:cs typeface="Helvetica Neue"/>
              </a:rPr>
              <a:t>Agree on acceptance criteria, then let each engineer explain their approach</a:t>
            </a:r>
          </a:p>
        </p:txBody>
      </p:sp>
    </p:spTree>
    <p:extLst>
      <p:ext uri="{BB962C8B-B14F-4D97-AF65-F5344CB8AC3E}">
        <p14:creationId xmlns:p14="http://schemas.microsoft.com/office/powerpoint/2010/main" val="18283543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2026-10-07T11:41:27.8880000Z</dcterms:created>
  <dcterms:modified xsi:type="dcterms:W3CDTF">2026-10-07T11:41:27.8880000Z</dcterms:modified>
</coreProperties>
</file>